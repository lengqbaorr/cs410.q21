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8" r:id="rId3"/>
    <p:sldId id="259" r:id="rId4"/>
    <p:sldId id="260" r:id="rId5"/>
    <p:sldId id="386" r:id="rId6"/>
    <p:sldId id="387" r:id="rId7"/>
    <p:sldId id="388" r:id="rId8"/>
    <p:sldId id="389" r:id="rId9"/>
    <p:sldId id="390" r:id="rId10"/>
    <p:sldId id="401" r:id="rId11"/>
    <p:sldId id="392" r:id="rId12"/>
    <p:sldId id="393" r:id="rId13"/>
    <p:sldId id="394" r:id="rId14"/>
    <p:sldId id="395" r:id="rId15"/>
    <p:sldId id="385" r:id="rId16"/>
    <p:sldId id="396" r:id="rId17"/>
    <p:sldId id="397" r:id="rId18"/>
    <p:sldId id="398" r:id="rId19"/>
    <p:sldId id="399" r:id="rId20"/>
    <p:sldId id="400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jjYI8QqtrztLJzOwI7ywtbQbSG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4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9"/>
    <p:restoredTop sz="63250" autoAdjust="0"/>
  </p:normalViewPr>
  <p:slideViewPr>
    <p:cSldViewPr snapToGrid="0">
      <p:cViewPr varScale="1">
        <p:scale>
          <a:sx n="59" d="100"/>
          <a:sy n="59" d="100"/>
        </p:scale>
        <p:origin x="15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77" Type="http://customschemas.google.com/relationships/presentationmetadata" Target="metadata"/><Relationship Id="rId8" Type="http://schemas.openxmlformats.org/officeDocument/2006/relationships/slide" Target="slides/slide7.xml"/><Relationship Id="rId80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Xác suất lựa chọn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622-495F-8E75-E6DEE4AE36F0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622-495F-8E75-E6DEE4AE36F0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622-495F-8E75-E6DEE4AE36F0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622-495F-8E75-E6DEE4AE36F0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5622-495F-8E75-E6DEE4AE36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Cá thể P0</c:v>
                </c:pt>
                <c:pt idx="1">
                  <c:v>Cá thể P1</c:v>
                </c:pt>
                <c:pt idx="2">
                  <c:v>Cá thể P2</c:v>
                </c:pt>
                <c:pt idx="3">
                  <c:v>Cá thể P3</c:v>
                </c:pt>
                <c:pt idx="4">
                  <c:v>Cá thể P4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622-495F-8E75-E6DEE4AE36F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Xác suất lựa chọn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C5E-409A-8AF5-97ACD79CB6AE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C5E-409A-8AF5-97ACD79CB6AE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C5E-409A-8AF5-97ACD79CB6AE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C5E-409A-8AF5-97ACD79CB6AE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C5E-409A-8AF5-97ACD79CB6A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C5E-409A-8AF5-97ACD79CB6A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FC5E-409A-8AF5-97ACD79CB6A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C5E-409A-8AF5-97ACD79CB6A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6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FC5E-409A-8AF5-97ACD79CB6AE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>
                          <a:lumMod val="6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FC5E-409A-8AF5-97ACD79CB6AE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Cá thể P0</c:v>
                </c:pt>
                <c:pt idx="1">
                  <c:v>Cá thể P1</c:v>
                </c:pt>
                <c:pt idx="2">
                  <c:v>Cá thể P2</c:v>
                </c:pt>
                <c:pt idx="3">
                  <c:v>Cá thể P3</c:v>
                </c:pt>
                <c:pt idx="4">
                  <c:v>Cá thể P4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5E-409A-8AF5-97ACD79CB6AE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Xác suất lựa chọn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622-495F-8E75-E6DEE4AE36F0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622-495F-8E75-E6DEE4AE36F0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622-495F-8E75-E6DEE4AE36F0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622-495F-8E75-E6DEE4AE36F0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5622-495F-8E75-E6DEE4AE36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Cá thể P0</c:v>
                </c:pt>
                <c:pt idx="1">
                  <c:v>Cá thể P1</c:v>
                </c:pt>
                <c:pt idx="2">
                  <c:v>Cá thể P2</c:v>
                </c:pt>
                <c:pt idx="3">
                  <c:v>Cá thể P3</c:v>
                </c:pt>
                <c:pt idx="4">
                  <c:v>Cá thể P4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622-495F-8E75-E6DEE4AE36F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34" name="Google Shape;3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D6332FAE-374E-A83F-A38E-9EA6B516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FDE2554E-F5B8-7D34-AABF-34AD2F201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1E980313-7276-EDFB-0EDA-88F3A2DC6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9064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812682AC-7B5D-AAE9-449A-80FE10C0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1C50CFD7-E813-7F22-2A1D-3C2AA19FB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6043D95E-D3ED-9B46-D1B1-014C47719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95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ADF34B5-FAC0-C0C2-1E5E-4CC6B484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8D5B2167-032C-5BB8-97CA-F479AC06F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356852EB-98A0-9DDA-6046-C479469CF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6472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BAFADD5-D77A-329A-7B22-91B5670B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D8CF2118-4972-CBDF-F5DF-C1927CCFA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566F300C-299E-9E9D-585C-A96D408C9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14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AAC28381-8431-35F1-E74E-B82DD168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AB41110A-E1A4-AAF0-741A-8012A17BEF1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US" sz="1200" dirty="0">
                    <a:solidFill>
                      <a:srgbClr val="FF0000"/>
                    </a:solidFill>
                  </a:rPr>
                  <a:t>Tournament Selection </a:t>
                </a:r>
                <a:r>
                  <a:rPr lang="en-US" sz="1200" dirty="0"/>
                  <a:t>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/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cạnh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tranh</a:t>
                </a:r>
                <a:r>
                  <a:rPr lang="en-US" sz="1200" dirty="0"/>
                  <a:t>):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</a:t>
                </a:r>
                <a:r>
                  <a:rPr lang="vi-VN" sz="1200" dirty="0"/>
                  <a:t>cá thể từ quần thể và lựa chọn cá thể có độ thích nghi tốt nhất trong số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</a:t>
                </a:r>
                <a:r>
                  <a:rPr lang="vi-VN" sz="1200" dirty="0"/>
                  <a:t>cá thể này.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còn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kích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thước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vòng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(tournament size).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vi-VN" dirty="0"/>
                  <a:t>Giá trị hàm mục tiêu có thể là âm / dương. Chọn lọc giao đấu chỉ cần lựa chọn cá thể tốt nhất trong vòng đấu gồm s cá thể.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xảy</a:t>
                </a:r>
                <a:r>
                  <a:rPr lang="en-GB" dirty="0"/>
                  <a:t> </a:t>
                </a:r>
                <a:r>
                  <a:rPr lang="en-GB" dirty="0" err="1"/>
                  <a:t>ra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trùng</a:t>
                </a:r>
                <a:r>
                  <a:rPr lang="en-GB" dirty="0"/>
                  <a:t> </a:t>
                </a:r>
                <a:r>
                  <a:rPr lang="en-GB" dirty="0" err="1"/>
                  <a:t>lắp</a:t>
                </a:r>
                <a:r>
                  <a:rPr lang="en-GB" dirty="0"/>
                  <a:t>. Do </a:t>
                </a:r>
                <a:r>
                  <a:rPr lang="en-GB" dirty="0" err="1"/>
                  <a:t>yếu</a:t>
                </a:r>
                <a:r>
                  <a:rPr lang="en-GB" dirty="0"/>
                  <a:t> </a:t>
                </a:r>
                <a:r>
                  <a:rPr lang="en-GB" dirty="0" err="1"/>
                  <a:t>tố</a:t>
                </a:r>
                <a:r>
                  <a:rPr lang="en-GB" dirty="0"/>
                  <a:t> </a:t>
                </a:r>
                <a:r>
                  <a:rPr lang="en-GB" dirty="0" err="1"/>
                  <a:t>ngẫu</a:t>
                </a:r>
                <a:r>
                  <a:rPr lang="en-GB" dirty="0"/>
                  <a:t> </a:t>
                </a:r>
                <a:r>
                  <a:rPr lang="en-GB" dirty="0" err="1"/>
                  <a:t>nhiên</a:t>
                </a:r>
                <a:r>
                  <a:rPr lang="en-GB" dirty="0"/>
                  <a:t>, </a:t>
                </a:r>
                <a:r>
                  <a:rPr lang="en-GB" dirty="0" err="1"/>
                  <a:t>một</a:t>
                </a:r>
                <a:r>
                  <a:rPr lang="en-GB" dirty="0"/>
                  <a:t> </a:t>
                </a:r>
                <a:r>
                  <a:rPr lang="en-GB" dirty="0" err="1"/>
                  <a:t>cá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quần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tham</a:t>
                </a:r>
                <a:r>
                  <a:rPr lang="en-GB" dirty="0"/>
                  <a:t> </a:t>
                </a:r>
                <a:r>
                  <a:rPr lang="en-GB" dirty="0" err="1"/>
                  <a:t>gia</a:t>
                </a:r>
                <a:r>
                  <a:rPr lang="en-GB" dirty="0"/>
                  <a:t> </a:t>
                </a:r>
                <a:r>
                  <a:rPr lang="en-GB" dirty="0" err="1"/>
                  <a:t>nhiều</a:t>
                </a:r>
                <a:r>
                  <a:rPr lang="en-GB" dirty="0"/>
                  <a:t> </a:t>
                </a:r>
                <a:r>
                  <a:rPr lang="en-GB" dirty="0" err="1"/>
                  <a:t>vòng</a:t>
                </a:r>
                <a:r>
                  <a:rPr lang="en-GB" dirty="0"/>
                  <a:t> </a:t>
                </a:r>
                <a:r>
                  <a:rPr lang="en-GB" dirty="0" err="1"/>
                  <a:t>đấu</a:t>
                </a:r>
                <a:r>
                  <a:rPr lang="en-GB" dirty="0"/>
                  <a:t>, </a:t>
                </a:r>
                <a:r>
                  <a:rPr lang="en-GB" dirty="0" err="1"/>
                  <a:t>và</a:t>
                </a:r>
                <a:r>
                  <a:rPr lang="en-GB" dirty="0"/>
                  <a:t> </a:t>
                </a:r>
                <a:r>
                  <a:rPr lang="en-GB" dirty="0" err="1"/>
                  <a:t>được</a:t>
                </a:r>
                <a:r>
                  <a:rPr lang="en-GB" dirty="0"/>
                  <a:t> </a:t>
                </a:r>
                <a:r>
                  <a:rPr lang="en-GB" dirty="0" err="1"/>
                  <a:t>sao</a:t>
                </a:r>
                <a:r>
                  <a:rPr lang="en-GB" dirty="0"/>
                  <a:t> </a:t>
                </a:r>
                <a:r>
                  <a:rPr lang="en-GB" dirty="0" err="1"/>
                  <a:t>chép</a:t>
                </a:r>
                <a:r>
                  <a:rPr lang="en-GB" dirty="0"/>
                  <a:t> </a:t>
                </a:r>
                <a:r>
                  <a:rPr lang="en-GB" dirty="0" err="1"/>
                  <a:t>nhiều</a:t>
                </a:r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vào</a:t>
                </a:r>
                <a:r>
                  <a:rPr lang="en-GB" dirty="0"/>
                  <a:t> </a:t>
                </a:r>
                <a:r>
                  <a:rPr lang="en-GB" dirty="0" err="1"/>
                  <a:t>tập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/>
                  <a:t>Ta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 </a:t>
                </a:r>
                <a:r>
                  <a:rPr lang="en-GB" dirty="0" err="1"/>
                  <a:t>giao</a:t>
                </a:r>
                <a:r>
                  <a:rPr lang="en-GB" dirty="0"/>
                  <a:t> </a:t>
                </a:r>
                <a:r>
                  <a:rPr lang="en-GB" dirty="0" err="1"/>
                  <a:t>đấu</a:t>
                </a:r>
                <a:r>
                  <a:rPr lang="en-GB" dirty="0"/>
                  <a:t> </a:t>
                </a:r>
                <a:r>
                  <a:rPr lang="en-GB" dirty="0" err="1"/>
                  <a:t>theo</a:t>
                </a:r>
                <a:r>
                  <a:rPr lang="en-GB" dirty="0"/>
                  <a:t> 2 </a:t>
                </a:r>
                <a:r>
                  <a:rPr lang="en-GB" dirty="0" err="1"/>
                  <a:t>cách</a:t>
                </a:r>
                <a:r>
                  <a:rPr lang="en-GB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200" dirty="0"/>
                  <a:t>Chọn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chemeClr val="accent1"/>
                    </a:solidFill>
                  </a:rPr>
                  <a:t>có</a:t>
                </a:r>
                <a:r>
                  <a:rPr lang="en-US" sz="12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accent1"/>
                    </a:solidFill>
                  </a:rPr>
                  <a:t>thay</a:t>
                </a:r>
                <a:r>
                  <a:rPr lang="en-US" sz="12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accent1"/>
                    </a:solidFill>
                  </a:rPr>
                  <a:t>thế</a:t>
                </a:r>
                <a:r>
                  <a:rPr lang="en-US" sz="12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200" dirty="0"/>
                  <a:t>(with replacement): </a:t>
                </a:r>
                <a:r>
                  <a:rPr lang="en-US" sz="1200" dirty="0" err="1"/>
                  <a:t>nếu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muốn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từ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quần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chép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tốt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 err="1"/>
                  <a:t>Nếu</a:t>
                </a:r>
                <a:r>
                  <a:rPr lang="en-GB" dirty="0"/>
                  <a:t> ta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 </a:t>
                </a:r>
                <a:r>
                  <a:rPr lang="en-GB" dirty="0" err="1"/>
                  <a:t>theo</a:t>
                </a:r>
                <a:r>
                  <a:rPr lang="en-GB" dirty="0"/>
                  <a:t> </a:t>
                </a:r>
                <a:r>
                  <a:rPr lang="en-GB" dirty="0" err="1"/>
                  <a:t>cách</a:t>
                </a:r>
                <a:r>
                  <a:rPr lang="en-GB" dirty="0"/>
                  <a:t> </a:t>
                </a:r>
                <a:r>
                  <a:rPr lang="en-GB" dirty="0" err="1"/>
                  <a:t>này</a:t>
                </a:r>
                <a:r>
                  <a:rPr lang="en-GB" dirty="0"/>
                  <a:t> </a:t>
                </a:r>
                <a:r>
                  <a:rPr lang="en-GB" dirty="0" err="1"/>
                  <a:t>thì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cá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tốt</a:t>
                </a:r>
                <a:r>
                  <a:rPr lang="en-GB" dirty="0"/>
                  <a:t> </a:t>
                </a:r>
                <a:r>
                  <a:rPr lang="en-GB" dirty="0" err="1"/>
                  <a:t>nhất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quần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được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lựa</a:t>
                </a:r>
                <a:r>
                  <a:rPr lang="en-GB" dirty="0"/>
                  <a:t> </a:t>
                </a:r>
                <a:r>
                  <a:rPr lang="en-GB" dirty="0" err="1"/>
                  <a:t>vào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tập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. </a:t>
                </a:r>
                <a:r>
                  <a:rPr lang="en-GB" dirty="0" err="1"/>
                  <a:t>Vì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k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thực</a:t>
                </a:r>
                <a:r>
                  <a:rPr lang="en-GB" dirty="0"/>
                  <a:t> </a:t>
                </a:r>
                <a:r>
                  <a:rPr lang="en-GB" dirty="0" err="1"/>
                  <a:t>hiện</a:t>
                </a:r>
                <a:r>
                  <a:rPr lang="en-GB" dirty="0"/>
                  <a:t> tournament selection,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nào</a:t>
                </a:r>
                <a:r>
                  <a:rPr lang="en-GB" dirty="0"/>
                  <a:t> </a:t>
                </a:r>
                <a:r>
                  <a:rPr lang="en-GB" dirty="0" err="1"/>
                  <a:t>cá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tốt</a:t>
                </a:r>
                <a:r>
                  <a:rPr lang="en-GB" dirty="0"/>
                  <a:t> </a:t>
                </a:r>
                <a:r>
                  <a:rPr lang="en-GB" dirty="0" err="1"/>
                  <a:t>nhất</a:t>
                </a:r>
                <a:r>
                  <a:rPr lang="en-GB" dirty="0"/>
                  <a:t> </a:t>
                </a:r>
                <a:r>
                  <a:rPr lang="en-GB" dirty="0" err="1"/>
                  <a:t>này</a:t>
                </a:r>
                <a:r>
                  <a:rPr lang="en-GB" dirty="0"/>
                  <a:t> </a:t>
                </a:r>
                <a:r>
                  <a:rPr lang="en-GB" dirty="0" err="1"/>
                  <a:t>được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/>
                  <a:t>Ta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 </a:t>
                </a:r>
                <a:r>
                  <a:rPr lang="en-GB" dirty="0" err="1"/>
                  <a:t>giao</a:t>
                </a:r>
                <a:r>
                  <a:rPr lang="en-GB" dirty="0"/>
                  <a:t> </a:t>
                </a:r>
                <a:r>
                  <a:rPr lang="en-GB" dirty="0" err="1"/>
                  <a:t>đấu</a:t>
                </a:r>
                <a:r>
                  <a:rPr lang="en-GB" dirty="0"/>
                  <a:t> </a:t>
                </a:r>
                <a:r>
                  <a:rPr lang="en-GB" dirty="0" err="1"/>
                  <a:t>theo</a:t>
                </a:r>
                <a:r>
                  <a:rPr lang="en-GB" dirty="0"/>
                  <a:t> </a:t>
                </a:r>
                <a:r>
                  <a:rPr lang="en-GB" dirty="0" err="1"/>
                  <a:t>phiên</a:t>
                </a:r>
                <a:r>
                  <a:rPr lang="en-GB" dirty="0"/>
                  <a:t> </a:t>
                </a:r>
                <a:r>
                  <a:rPr lang="en-GB" dirty="0" err="1"/>
                  <a:t>bản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thay</a:t>
                </a:r>
                <a:r>
                  <a:rPr lang="en-GB" dirty="0"/>
                  <a:t> </a:t>
                </a:r>
                <a:r>
                  <a:rPr lang="en-GB" dirty="0" err="1"/>
                  <a:t>thế</a:t>
                </a:r>
                <a:r>
                  <a:rPr lang="en-GB" dirty="0"/>
                  <a:t> (without replacement).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70" name="Google Shape;370;p5:notes">
                <a:extLst>
                  <a:ext uri="{FF2B5EF4-FFF2-40B4-BE49-F238E27FC236}">
                    <a16:creationId xmlns:a16="http://schemas.microsoft.com/office/drawing/2014/main" id="{AB41110A-E1A4-AAF0-741A-8012A17BEF1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400550"/>
                <a:ext cx="5486400" cy="360045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r>
                  <a:rPr lang="en-US" sz="1200" dirty="0">
                    <a:solidFill>
                      <a:srgbClr val="FF0000"/>
                    </a:solidFill>
                  </a:rPr>
                  <a:t>Tournament Selection </a:t>
                </a:r>
                <a:r>
                  <a:rPr lang="en-US" sz="1200" dirty="0"/>
                  <a:t>(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/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cạnh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tranh</a:t>
                </a:r>
                <a:r>
                  <a:rPr lang="en-US" sz="1200" dirty="0"/>
                  <a:t>):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𝑠</a:t>
                </a:r>
                <a:r>
                  <a:rPr lang="en-US" sz="1200" dirty="0"/>
                  <a:t> </a:t>
                </a:r>
                <a:r>
                  <a:rPr lang="vi-VN" sz="1200" dirty="0"/>
                  <a:t>cá thể từ quần thể và lựa chọn cá thể có độ thích nghi tốt nhất trong số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𝑠</a:t>
                </a:r>
                <a:r>
                  <a:rPr lang="en-US" sz="1200" dirty="0"/>
                  <a:t> </a:t>
                </a:r>
                <a:r>
                  <a:rPr lang="vi-VN" sz="1200" dirty="0"/>
                  <a:t>cá thể này.</a:t>
                </a:r>
              </a:p>
              <a:p>
                <a:r>
                  <a:rPr lang="en-US" sz="1200" b="0" i="0">
                    <a:latin typeface="Cambria Math" panose="02040503050406030204" pitchFamily="18" charset="0"/>
                  </a:rPr>
                  <a:t>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còn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được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gọi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kích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thước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vòng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(tournament size).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vi-VN" dirty="0"/>
                  <a:t>Giá trị hàm mục tiêu có thể là âm / dương. Chọn lọc giao đấu chỉ cần lựa chọn cá thể tốt nhất trong vòng đấu gồm s cá thể.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xảy</a:t>
                </a:r>
                <a:r>
                  <a:rPr lang="en-GB" dirty="0"/>
                  <a:t> </a:t>
                </a:r>
                <a:r>
                  <a:rPr lang="en-GB" dirty="0" err="1"/>
                  <a:t>ra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trùng</a:t>
                </a:r>
                <a:r>
                  <a:rPr lang="en-GB" dirty="0"/>
                  <a:t> </a:t>
                </a:r>
                <a:r>
                  <a:rPr lang="en-GB" dirty="0" err="1"/>
                  <a:t>lắp</a:t>
                </a:r>
                <a:r>
                  <a:rPr lang="en-GB" dirty="0"/>
                  <a:t>. Do </a:t>
                </a:r>
                <a:r>
                  <a:rPr lang="en-GB" dirty="0" err="1"/>
                  <a:t>yếu</a:t>
                </a:r>
                <a:r>
                  <a:rPr lang="en-GB" dirty="0"/>
                  <a:t> </a:t>
                </a:r>
                <a:r>
                  <a:rPr lang="en-GB" dirty="0" err="1"/>
                  <a:t>tố</a:t>
                </a:r>
                <a:r>
                  <a:rPr lang="en-GB" dirty="0"/>
                  <a:t> </a:t>
                </a:r>
                <a:r>
                  <a:rPr lang="en-GB" dirty="0" err="1"/>
                  <a:t>ngẫu</a:t>
                </a:r>
                <a:r>
                  <a:rPr lang="en-GB" dirty="0"/>
                  <a:t> </a:t>
                </a:r>
                <a:r>
                  <a:rPr lang="en-GB" dirty="0" err="1"/>
                  <a:t>nhiên</a:t>
                </a:r>
                <a:r>
                  <a:rPr lang="en-GB" dirty="0"/>
                  <a:t>, </a:t>
                </a:r>
                <a:r>
                  <a:rPr lang="en-GB" dirty="0" err="1"/>
                  <a:t>một</a:t>
                </a:r>
                <a:r>
                  <a:rPr lang="en-GB" dirty="0"/>
                  <a:t> </a:t>
                </a:r>
                <a:r>
                  <a:rPr lang="en-GB" dirty="0" err="1"/>
                  <a:t>cá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quần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tham</a:t>
                </a:r>
                <a:r>
                  <a:rPr lang="en-GB" dirty="0"/>
                  <a:t> </a:t>
                </a:r>
                <a:r>
                  <a:rPr lang="en-GB" dirty="0" err="1"/>
                  <a:t>gia</a:t>
                </a:r>
                <a:r>
                  <a:rPr lang="en-GB" dirty="0"/>
                  <a:t> </a:t>
                </a:r>
                <a:r>
                  <a:rPr lang="en-GB" dirty="0" err="1"/>
                  <a:t>nhiều</a:t>
                </a:r>
                <a:r>
                  <a:rPr lang="en-GB" dirty="0"/>
                  <a:t> </a:t>
                </a:r>
                <a:r>
                  <a:rPr lang="en-GB" dirty="0" err="1"/>
                  <a:t>vòng</a:t>
                </a:r>
                <a:r>
                  <a:rPr lang="en-GB" dirty="0"/>
                  <a:t> </a:t>
                </a:r>
                <a:r>
                  <a:rPr lang="en-GB" dirty="0" err="1"/>
                  <a:t>đấu</a:t>
                </a:r>
                <a:r>
                  <a:rPr lang="en-GB" dirty="0"/>
                  <a:t>, </a:t>
                </a:r>
                <a:r>
                  <a:rPr lang="en-GB" dirty="0" err="1"/>
                  <a:t>và</a:t>
                </a:r>
                <a:r>
                  <a:rPr lang="en-GB" dirty="0"/>
                  <a:t> </a:t>
                </a:r>
                <a:r>
                  <a:rPr lang="en-GB" dirty="0" err="1"/>
                  <a:t>được</a:t>
                </a:r>
                <a:r>
                  <a:rPr lang="en-GB" dirty="0"/>
                  <a:t> </a:t>
                </a:r>
                <a:r>
                  <a:rPr lang="en-GB" dirty="0" err="1"/>
                  <a:t>sao</a:t>
                </a:r>
                <a:r>
                  <a:rPr lang="en-GB" dirty="0"/>
                  <a:t> </a:t>
                </a:r>
                <a:r>
                  <a:rPr lang="en-GB" dirty="0" err="1"/>
                  <a:t>chép</a:t>
                </a:r>
                <a:r>
                  <a:rPr lang="en-GB" dirty="0"/>
                  <a:t> </a:t>
                </a:r>
                <a:r>
                  <a:rPr lang="en-GB" dirty="0" err="1"/>
                  <a:t>nhiều</a:t>
                </a:r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vào</a:t>
                </a:r>
                <a:r>
                  <a:rPr lang="en-GB" dirty="0"/>
                  <a:t> </a:t>
                </a:r>
                <a:r>
                  <a:rPr lang="en-GB" dirty="0" err="1"/>
                  <a:t>tập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/>
                  <a:t>Ta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 </a:t>
                </a:r>
                <a:r>
                  <a:rPr lang="en-GB" dirty="0" err="1"/>
                  <a:t>giao</a:t>
                </a:r>
                <a:r>
                  <a:rPr lang="en-GB" dirty="0"/>
                  <a:t> </a:t>
                </a:r>
                <a:r>
                  <a:rPr lang="en-GB" dirty="0" err="1"/>
                  <a:t>đấu</a:t>
                </a:r>
                <a:r>
                  <a:rPr lang="en-GB" dirty="0"/>
                  <a:t> </a:t>
                </a:r>
                <a:r>
                  <a:rPr lang="en-GB" dirty="0" err="1"/>
                  <a:t>theo</a:t>
                </a:r>
                <a:r>
                  <a:rPr lang="en-GB" dirty="0"/>
                  <a:t> 2 </a:t>
                </a:r>
                <a:r>
                  <a:rPr lang="en-GB" dirty="0" err="1"/>
                  <a:t>cách</a:t>
                </a:r>
                <a:r>
                  <a:rPr lang="en-GB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US" sz="1200" dirty="0"/>
                  <a:t>Chọn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</a:t>
                </a:r>
                <a:r>
                  <a:rPr lang="en-US" sz="1200" dirty="0" err="1">
                    <a:solidFill>
                      <a:schemeClr val="accent1"/>
                    </a:solidFill>
                  </a:rPr>
                  <a:t>có</a:t>
                </a:r>
                <a:r>
                  <a:rPr lang="en-US" sz="12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accent1"/>
                    </a:solidFill>
                  </a:rPr>
                  <a:t>thay</a:t>
                </a:r>
                <a:r>
                  <a:rPr lang="en-US" sz="12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accent1"/>
                    </a:solidFill>
                  </a:rPr>
                  <a:t>thế</a:t>
                </a:r>
                <a:r>
                  <a:rPr lang="en-US" sz="12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200" dirty="0"/>
                  <a:t>(with replacement): </a:t>
                </a:r>
                <a:r>
                  <a:rPr lang="en-US" sz="1200" dirty="0" err="1"/>
                  <a:t>nếu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muốn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từ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quần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tại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thì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thực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hiện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giao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đấu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mỗi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lần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lấy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ngẫu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nhiên</a:t>
                </a:r>
                <a:r>
                  <a:rPr lang="en-US" sz="1200" dirty="0"/>
                  <a:t>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và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sao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chép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cá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thể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tốt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nhất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vào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tập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chọn</a:t>
                </a:r>
                <a:r>
                  <a:rPr lang="en-US" sz="1200" dirty="0"/>
                  <a:t> </a:t>
                </a:r>
                <a:r>
                  <a:rPr lang="en-US" sz="1200" dirty="0" err="1"/>
                  <a:t>lọc</a:t>
                </a:r>
                <a:r>
                  <a:rPr lang="en-US" sz="1200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 err="1"/>
                  <a:t>Nếu</a:t>
                </a:r>
                <a:r>
                  <a:rPr lang="en-GB" dirty="0"/>
                  <a:t> ta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 </a:t>
                </a:r>
                <a:r>
                  <a:rPr lang="en-GB" dirty="0" err="1"/>
                  <a:t>theo</a:t>
                </a:r>
                <a:r>
                  <a:rPr lang="en-GB" dirty="0"/>
                  <a:t> </a:t>
                </a:r>
                <a:r>
                  <a:rPr lang="en-GB" dirty="0" err="1"/>
                  <a:t>cách</a:t>
                </a:r>
                <a:r>
                  <a:rPr lang="en-GB" dirty="0"/>
                  <a:t> </a:t>
                </a:r>
                <a:r>
                  <a:rPr lang="en-GB" dirty="0" err="1"/>
                  <a:t>này</a:t>
                </a:r>
                <a:r>
                  <a:rPr lang="en-GB" dirty="0"/>
                  <a:t> </a:t>
                </a:r>
                <a:r>
                  <a:rPr lang="en-GB" dirty="0" err="1"/>
                  <a:t>thì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cá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tốt</a:t>
                </a:r>
                <a:r>
                  <a:rPr lang="en-GB" dirty="0"/>
                  <a:t> </a:t>
                </a:r>
                <a:r>
                  <a:rPr lang="en-GB" dirty="0" err="1"/>
                  <a:t>nhất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quần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được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lựa</a:t>
                </a:r>
                <a:r>
                  <a:rPr lang="en-GB" dirty="0"/>
                  <a:t> </a:t>
                </a:r>
                <a:r>
                  <a:rPr lang="en-GB" dirty="0" err="1"/>
                  <a:t>vào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</a:t>
                </a:r>
                <a:r>
                  <a:rPr lang="en-GB" dirty="0" err="1"/>
                  <a:t>tập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. </a:t>
                </a:r>
                <a:r>
                  <a:rPr lang="en-GB" dirty="0" err="1"/>
                  <a:t>Vì</a:t>
                </a:r>
                <a:r>
                  <a:rPr lang="en-GB" dirty="0"/>
                  <a:t> </a:t>
                </a:r>
                <a:r>
                  <a:rPr lang="en-GB" dirty="0" err="1"/>
                  <a:t>trong</a:t>
                </a:r>
                <a:r>
                  <a:rPr lang="en-GB" dirty="0"/>
                  <a:t> k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thực</a:t>
                </a:r>
                <a:r>
                  <a:rPr lang="en-GB" dirty="0"/>
                  <a:t> </a:t>
                </a:r>
                <a:r>
                  <a:rPr lang="en-GB" dirty="0" err="1"/>
                  <a:t>hiện</a:t>
                </a:r>
                <a:r>
                  <a:rPr lang="en-GB" dirty="0"/>
                  <a:t> tournament selection,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lần</a:t>
                </a:r>
                <a:r>
                  <a:rPr lang="en-GB" dirty="0"/>
                  <a:t> </a:t>
                </a:r>
                <a:r>
                  <a:rPr lang="en-GB" dirty="0" err="1"/>
                  <a:t>nào</a:t>
                </a:r>
                <a:r>
                  <a:rPr lang="en-GB" dirty="0"/>
                  <a:t> </a:t>
                </a:r>
                <a:r>
                  <a:rPr lang="en-GB" dirty="0" err="1"/>
                  <a:t>cá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tốt</a:t>
                </a:r>
                <a:r>
                  <a:rPr lang="en-GB" dirty="0"/>
                  <a:t> </a:t>
                </a:r>
                <a:r>
                  <a:rPr lang="en-GB" dirty="0" err="1"/>
                  <a:t>nhất</a:t>
                </a:r>
                <a:r>
                  <a:rPr lang="en-GB" dirty="0"/>
                  <a:t> </a:t>
                </a:r>
                <a:r>
                  <a:rPr lang="en-GB" dirty="0" err="1"/>
                  <a:t>này</a:t>
                </a:r>
                <a:r>
                  <a:rPr lang="en-GB" dirty="0"/>
                  <a:t> </a:t>
                </a:r>
                <a:r>
                  <a:rPr lang="en-GB" dirty="0" err="1"/>
                  <a:t>được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lang="en-GB" dirty="0"/>
                  <a:t>Ta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thể</a:t>
                </a:r>
                <a:r>
                  <a:rPr lang="en-GB" dirty="0"/>
                  <a:t> </a:t>
                </a:r>
                <a:r>
                  <a:rPr lang="en-GB" dirty="0" err="1"/>
                  <a:t>cài</a:t>
                </a:r>
                <a:r>
                  <a:rPr lang="en-GB" dirty="0"/>
                  <a:t> </a:t>
                </a:r>
                <a:r>
                  <a:rPr lang="en-GB" dirty="0" err="1"/>
                  <a:t>đặt</a:t>
                </a:r>
                <a:r>
                  <a:rPr lang="en-GB" dirty="0"/>
                  <a:t> </a:t>
                </a:r>
                <a:r>
                  <a:rPr lang="en-GB" dirty="0" err="1"/>
                  <a:t>chọn</a:t>
                </a:r>
                <a:r>
                  <a:rPr lang="en-GB" dirty="0"/>
                  <a:t> </a:t>
                </a:r>
                <a:r>
                  <a:rPr lang="en-GB" dirty="0" err="1"/>
                  <a:t>lọc</a:t>
                </a:r>
                <a:r>
                  <a:rPr lang="en-GB" dirty="0"/>
                  <a:t> </a:t>
                </a:r>
                <a:r>
                  <a:rPr lang="en-GB" dirty="0" err="1"/>
                  <a:t>giao</a:t>
                </a:r>
                <a:r>
                  <a:rPr lang="en-GB" dirty="0"/>
                  <a:t> </a:t>
                </a:r>
                <a:r>
                  <a:rPr lang="en-GB" dirty="0" err="1"/>
                  <a:t>đấu</a:t>
                </a:r>
                <a:r>
                  <a:rPr lang="en-GB" dirty="0"/>
                  <a:t> </a:t>
                </a:r>
                <a:r>
                  <a:rPr lang="en-GB" dirty="0" err="1"/>
                  <a:t>theo</a:t>
                </a:r>
                <a:r>
                  <a:rPr lang="en-GB" dirty="0"/>
                  <a:t> </a:t>
                </a:r>
                <a:r>
                  <a:rPr lang="en-GB" dirty="0" err="1"/>
                  <a:t>phiên</a:t>
                </a:r>
                <a:r>
                  <a:rPr lang="en-GB" dirty="0"/>
                  <a:t> </a:t>
                </a:r>
                <a:r>
                  <a:rPr lang="en-GB" dirty="0" err="1"/>
                  <a:t>bản</a:t>
                </a:r>
                <a:r>
                  <a:rPr lang="en-GB" dirty="0"/>
                  <a:t> </a:t>
                </a:r>
                <a:r>
                  <a:rPr lang="en-GB" dirty="0" err="1"/>
                  <a:t>không</a:t>
                </a:r>
                <a:r>
                  <a:rPr lang="en-GB" dirty="0"/>
                  <a:t> </a:t>
                </a:r>
                <a:r>
                  <a:rPr lang="en-GB" dirty="0" err="1"/>
                  <a:t>có</a:t>
                </a:r>
                <a:r>
                  <a:rPr lang="en-GB" dirty="0"/>
                  <a:t> </a:t>
                </a:r>
                <a:r>
                  <a:rPr lang="en-GB" dirty="0" err="1"/>
                  <a:t>thay</a:t>
                </a:r>
                <a:r>
                  <a:rPr lang="en-GB" dirty="0"/>
                  <a:t> </a:t>
                </a:r>
                <a:r>
                  <a:rPr lang="en-GB" dirty="0" err="1"/>
                  <a:t>thế</a:t>
                </a:r>
                <a:r>
                  <a:rPr lang="en-GB" dirty="0"/>
                  <a:t> (without replacement).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lang="en-US" dirty="0"/>
              </a:p>
            </p:txBody>
          </p:sp>
        </mc:Fallback>
      </mc:AlternateContent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D5638C3-A179-9E8B-FD59-C405F20C4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025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6B53429A-E6FD-7FDE-C317-C0387A2B6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786FBFF6-0E73-5B7C-BC65-910F28C89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B97E3BB6-3CA9-EBCF-CCB1-05D67EAD5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104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E052F4B-B574-FB14-7431-86B63780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2E0E5000-A23D-2460-44D2-F16EC2332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3A32823C-7825-6617-DE5F-A1A49C816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643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74C7A901-0919-9BAC-B753-34E7A773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3121F652-DF1A-2A58-CE64-DFCD92FBC3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61246B81-4CEA-3E44-1B54-AB0BA082A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5343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1250D31-7D8D-4026-D6D7-E4E7C30F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94CD409F-5A79-E3A3-CCA2-A3F6D9EC2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472C2196-7755-6DAA-3FCE-6C3CCE74C4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368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8C7894B0-46C8-27A9-8B87-D643D6A2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>
            <a:extLst>
              <a:ext uri="{FF2B5EF4-FFF2-40B4-BE49-F238E27FC236}">
                <a16:creationId xmlns:a16="http://schemas.microsoft.com/office/drawing/2014/main" id="{DC05A02D-99B5-718F-8A93-9C760FFEC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>
            <a:extLst>
              <a:ext uri="{FF2B5EF4-FFF2-40B4-BE49-F238E27FC236}">
                <a16:creationId xmlns:a16="http://schemas.microsoft.com/office/drawing/2014/main" id="{1C177E58-F95C-8339-E06D-EEF3D0B60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2523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51AFB7E6-1513-9888-8631-26B1D985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D6382DFB-6BC1-8C53-D54A-3AA0A5BED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67BFBA88-0B9F-6B20-56B2-01BC722A7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1375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763B9AB4-E069-21EA-F67D-021BC673E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1533D91B-003C-9A30-54B0-2CD30F1E7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23FBBC2B-61AD-DEF0-4E3F-6811C6631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162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A71B08F-A449-D94A-EE31-A982D761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38577EE3-AB4C-B37B-06AB-BB81ED3EC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96D248B7-DC40-EFEC-7ED7-30E40AA1C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7597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369058DD-A51E-593B-49A6-9C956C6C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E8DA9FE1-568E-97E2-FB63-F9DA65359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40C3E634-BCE7-AAD2-5E5E-B336294A6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2190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69B9B468-3205-95F0-BEAF-46192083E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250BE3E7-3618-D621-F083-81B4C25BF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7F7B4037-5982-7C35-5A2E-5E4B08B4C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7512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6E6153BC-CC77-9107-14A9-3A5EF111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:notes">
            <a:extLst>
              <a:ext uri="{FF2B5EF4-FFF2-40B4-BE49-F238E27FC236}">
                <a16:creationId xmlns:a16="http://schemas.microsoft.com/office/drawing/2014/main" id="{AFC7C3E7-4018-00DD-1BE8-5694B5AF0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4:notes">
            <a:extLst>
              <a:ext uri="{FF2B5EF4-FFF2-40B4-BE49-F238E27FC236}">
                <a16:creationId xmlns:a16="http://schemas.microsoft.com/office/drawing/2014/main" id="{D8D69239-5A37-218E-1FA3-1B004D6F6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2911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47BB3F06-4868-A9A6-DB79-8244C1C0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2080E4A1-DECA-75AC-AB48-19EA0EB55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54434DDE-F294-C004-0AEC-665FB95D81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55076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3BF45513-AEB2-95B2-6201-73C13F20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9A1E5762-A8D0-1C56-6C9A-6F76DF153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800D85DF-FB9C-77A7-EE4F-62BA482B1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3830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1525A4BE-F68E-D0D8-2B51-D236EA0E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4AB9D9F0-B12A-24AB-8083-FC6FB9A59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2A766CF1-0BE4-2253-6644-47000BB6F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9328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863493E0-3649-B99C-95F2-B7118E27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528F90C2-7C7D-2A7A-1A24-7E1594BEB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C9C66E8F-AE26-6B38-9961-E170926B9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91493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EDF7E37-E2C0-2857-118C-F4E5E69A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B3DE6F5C-F34E-989A-2AAC-C9F464B58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47008532-9F54-5147-57D4-7F7E81773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7506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42B18842-CEC3-25DD-5E80-DBF89028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7624E7ED-A27C-EB42-9653-FF03544E2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E3837DC5-EDEA-4E1A-810C-D57FBA957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82461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E1F9DFA2-632D-7B53-3A3D-87244077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7B844F53-AE34-CC9D-5AD9-CCEB781C5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A579A2EE-5E15-3F3E-0CA4-4C522874C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07548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3B89E3BF-C25D-F6C5-603A-7938F2441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B54B5263-689B-1177-A023-C6F85C2EA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6D48E088-A762-6413-1065-E8A230402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9351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FC46EA74-15C0-7A5E-0713-F3FFFAA3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C23B2630-11C0-9C45-0063-4576CB1AF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E95CDDCA-0C9C-CFD2-8562-B3946E757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8956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A981324-0F47-3BAD-2F01-03614A65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695FCBCD-5B87-FCE1-5161-3D7B060FF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B0D64B73-053F-5FD3-5E2B-9D01662B1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1069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9F66F4C3-C53D-314B-E93D-59951C10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B0FD3929-F4AA-9B6F-99DA-93550186E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34C595B6-3396-C49E-0924-87C96F3C2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11304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BD6D8685-7DD7-E44D-4A77-7A4CE824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5D528A27-5386-C3B4-5FF6-36C57E6FBF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16D68D03-A69B-DA0A-1428-712431EE0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87566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3576A015-85A3-6404-C3F0-12F87A00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:notes">
            <a:extLst>
              <a:ext uri="{FF2B5EF4-FFF2-40B4-BE49-F238E27FC236}">
                <a16:creationId xmlns:a16="http://schemas.microsoft.com/office/drawing/2014/main" id="{BA0D22B2-93F5-1FCA-BD6D-7F4063A27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71" name="Google Shape;371;p5:notes">
            <a:extLst>
              <a:ext uri="{FF2B5EF4-FFF2-40B4-BE49-F238E27FC236}">
                <a16:creationId xmlns:a16="http://schemas.microsoft.com/office/drawing/2014/main" id="{DD7070A9-A22D-A2E7-D824-68F366CD23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88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/>
          <p:nvPr/>
        </p:nvSpPr>
        <p:spPr>
          <a:xfrm rot="10800000"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13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" name="Google Shape;22;p1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3" name="Google Shape;23;p1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13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1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" name="Google Shape;28;p13"/>
          <p:cNvSpPr/>
          <p:nvPr/>
        </p:nvSpPr>
        <p:spPr>
          <a:xfrm flipH="1">
            <a:off x="5441009" y="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3"/>
          <p:cNvSpPr/>
          <p:nvPr/>
        </p:nvSpPr>
        <p:spPr>
          <a:xfrm rot="10800000" flipH="1">
            <a:off x="0" y="6553200"/>
            <a:ext cx="6750991" cy="3048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3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3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 sz="1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13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sz="44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2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sz="28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4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69" name="Google Shape;69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5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74" name="Google Shape;74;p15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5" name="Google Shape;75;p15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15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15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" name="Google Shape;78;p15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15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80" name="Google Shape;80;p15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15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15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3" name="Google Shape;83;p15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" name="Google Shape;84;p15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" name="Google Shape;86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9" name="Google Shape;89;p15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1" name="Google Shape;91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4" name="Google Shape;94;p15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95" name="Google Shape;95;p15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15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15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8" name="Google Shape;98;p15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15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00" name="Google Shape;100;p15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15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15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3" name="Google Shape;103;p15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" name="Google Shape;104;p15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105" name="Google Shape;105;p15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106" name="Google Shape;106;p15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15"/>
              <p:cNvCxnSpPr/>
              <p:nvPr/>
            </p:nvCxnSpPr>
            <p:spPr>
              <a:xfrm rot="10800000" flipH="1">
                <a:off x="2520285" y="1059987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15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09" name="Google Shape;109;p15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15"/>
            <p:cNvGrpSpPr/>
            <p:nvPr/>
          </p:nvGrpSpPr>
          <p:grpSpPr>
            <a:xfrm rot="10800000" flipH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11" name="Google Shape;111;p15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15"/>
              <p:cNvCxnSpPr/>
              <p:nvPr/>
            </p:nvCxnSpPr>
            <p:spPr>
              <a:xfrm rot="10800000" flipH="1">
                <a:off x="2520285" y="1390903"/>
                <a:ext cx="591405" cy="506136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15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4" name="Google Shape;114;p15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" name="Google Shape;115;p15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7" name="Google Shape;117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0" name="Google Shape;120;p15"/>
            <p:cNvGrpSpPr/>
            <p:nvPr/>
          </p:nvGrpSpPr>
          <p:grpSpPr>
            <a:xfrm rot="10800000" flipH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2" name="Google Shape;122;p15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15"/>
              <p:cNvCxnSpPr/>
              <p:nvPr/>
            </p:nvCxnSpPr>
            <p:spPr>
              <a:xfrm rot="10800000" flipH="1">
                <a:off x="1974958" y="2019015"/>
                <a:ext cx="463440" cy="388892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15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5" name="Google Shape;125;p15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26" name="Google Shape;126;p15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15"/>
              <p:cNvCxnSpPr/>
              <p:nvPr/>
            </p:nvCxnSpPr>
            <p:spPr>
              <a:xfrm rot="10800000" flipH="1">
                <a:off x="1368303" y="2877197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15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9" name="Google Shape;129;p15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15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31" name="Google Shape;131;p15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15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15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4" name="Google Shape;134;p15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5" name="Google Shape;135;p15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5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5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41" name="Google Shape;141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2" name="Google Shape;142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43" name="Google Shape;143;p15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4" name="Google Shape;144;p15"/>
          <p:cNvSpPr txBox="1">
            <a:spLocks noGrp="1"/>
          </p:cNvSpPr>
          <p:nvPr>
            <p:ph type="dt" idx="10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52" name="Google Shape;152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3" name="Google Shape;153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54" name="Google Shape;154;p1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F7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55" name="Google Shape;155;p1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9" name="Google Shape;159;p1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0" name="Google Shape;160;p16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sz="44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sz="12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5" name="Google Shape;165;p16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w="2540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16"/>
          <p:cNvSpPr txBox="1">
            <a:spLocks noGrp="1"/>
          </p:cNvSpPr>
          <p:nvPr>
            <p:ph type="dt" idx="10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8" name="Google Shape;168;p16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69" name="Google Shape;169;p16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17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81" name="Google Shape;181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" name="Google Shape;182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3" name="Google Shape;183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4" name="Google Shape;184;p1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body"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8" name="Google Shape;188;p17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89" name="Google Shape;189;p17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17"/>
          <p:cNvSpPr txBox="1">
            <a:spLocks noGrp="1"/>
          </p:cNvSpPr>
          <p:nvPr>
            <p:ph type="dt" idx="10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11589537" y="105878"/>
            <a:ext cx="489307" cy="405155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  <p:grpSp>
        <p:nvGrpSpPr>
          <p:cNvPr id="199" name="Google Shape;199;p17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200" name="Google Shape;200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" name="Google Shape;201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2" name="Google Shape;202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w="38100" cap="flat" cmpd="sng">
              <a:solidFill>
                <a:srgbClr val="00C6F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"/>
          <p:cNvSpPr txBox="1">
            <a:spLocks noGrp="1"/>
          </p:cNvSpPr>
          <p:nvPr>
            <p:ph type="ftr" idx="11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37" name="Google Shape;337;p1"/>
          <p:cNvSpPr txBox="1">
            <a:spLocks noGrp="1"/>
          </p:cNvSpPr>
          <p:nvPr>
            <p:ph type="sldNum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</a:t>
            </a:fld>
            <a:endParaRPr/>
          </a:p>
        </p:txBody>
      </p:sp>
      <p:sp>
        <p:nvSpPr>
          <p:cNvPr id="338" name="Google Shape;338;p1"/>
          <p:cNvSpPr txBox="1">
            <a:spLocks noGrp="1"/>
          </p:cNvSpPr>
          <p:nvPr>
            <p:ph type="body" idx="1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</a:pPr>
            <a:r>
              <a:rPr lang="en-US"/>
              <a:t>MẠNG NEURAL VÀ THUẬT GIẢI DI TRUYỀN</a:t>
            </a:r>
            <a:endParaRPr dirty="0"/>
          </a:p>
        </p:txBody>
      </p:sp>
      <p:sp>
        <p:nvSpPr>
          <p:cNvPr id="339" name="Google Shape;339;p1"/>
          <p:cNvSpPr txBox="1">
            <a:spLocks noGrp="1"/>
          </p:cNvSpPr>
          <p:nvPr>
            <p:ph type="body" idx="2"/>
          </p:nvPr>
        </p:nvSpPr>
        <p:spPr>
          <a:xfrm>
            <a:off x="876990" y="3308156"/>
            <a:ext cx="10438019" cy="751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</a:pPr>
            <a:r>
              <a:rPr lang="en-US" dirty="0"/>
              <a:t>THUẬT GIẢI DI TRUYỀN (BẢN CÀI ĐẶT POPOP)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</a:pPr>
            <a:r>
              <a:rPr lang="en-US" dirty="0"/>
              <a:t>ĐÁNH GIÁ HIỆU SUẤT</a:t>
            </a:r>
            <a:endParaRPr dirty="0"/>
          </a:p>
        </p:txBody>
      </p:sp>
      <p:sp>
        <p:nvSpPr>
          <p:cNvPr id="340" name="Google Shape;340;p1"/>
          <p:cNvSpPr txBox="1">
            <a:spLocks noGrp="1"/>
          </p:cNvSpPr>
          <p:nvPr>
            <p:ph type="body" idx="3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vi-VN" dirty="0"/>
              <a:t>TS. Lương Ngọc Hoàng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"/>
          <p:cNvSpPr txBox="1">
            <a:spLocks noGrp="1"/>
          </p:cNvSpPr>
          <p:nvPr>
            <p:ph type="ftr" idx="11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56" name="Google Shape;356;p3"/>
          <p:cNvSpPr txBox="1">
            <a:spLocks noGrp="1"/>
          </p:cNvSpPr>
          <p:nvPr>
            <p:ph type="sldNum" idx="12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</a:t>
            </a:fld>
            <a:endParaRPr/>
          </a:p>
        </p:txBody>
      </p:sp>
      <p:sp>
        <p:nvSpPr>
          <p:cNvPr id="357" name="Google Shape;357;p3"/>
          <p:cNvSpPr txBox="1">
            <a:spLocks noGrp="1"/>
          </p:cNvSpPr>
          <p:nvPr>
            <p:ph type="body" idx="1"/>
          </p:nvPr>
        </p:nvSpPr>
        <p:spPr>
          <a:xfrm>
            <a:off x="2033899" y="1559014"/>
            <a:ext cx="8543116" cy="41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692150" indent="-514350">
              <a:spcBef>
                <a:spcPts val="0"/>
              </a:spcBef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(tournament selection)</a:t>
            </a:r>
          </a:p>
          <a:p>
            <a:pPr marL="692150" indent="-514350">
              <a:spcBef>
                <a:spcPts val="0"/>
              </a:spcBef>
            </a:pP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POPOP</a:t>
            </a:r>
          </a:p>
          <a:p>
            <a:pPr marL="692150" indent="-514350">
              <a:spcBef>
                <a:spcPts val="0"/>
              </a:spcBef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Bisection</a:t>
            </a:r>
            <a:endParaRPr dirty="0"/>
          </a:p>
        </p:txBody>
      </p:sp>
      <p:sp>
        <p:nvSpPr>
          <p:cNvPr id="358" name="Google Shape;358;p3"/>
          <p:cNvSpPr txBox="1">
            <a:spLocks noGrp="1"/>
          </p:cNvSpPr>
          <p:nvPr>
            <p:ph type="body" idx="2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/>
              <a:t>NỘI DUNG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/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 dirty="0"/>
              <a:t>CHỌN LỌC GIAO ĐẤU</a:t>
            </a:r>
            <a:endParaRPr dirty="0"/>
          </a:p>
        </p:txBody>
      </p:sp>
      <p:sp>
        <p:nvSpPr>
          <p:cNvPr id="364" name="Google Shape;364;p4"/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TOURNAMENT SELECTION</a:t>
            </a:r>
            <a:endParaRPr dirty="0"/>
          </a:p>
        </p:txBody>
      </p:sp>
      <p:sp>
        <p:nvSpPr>
          <p:cNvPr id="365" name="Google Shape;365;p4"/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/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/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/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/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Ôn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dirty="0"/>
          </a:p>
        </p:txBody>
      </p:sp>
      <p:sp>
        <p:nvSpPr>
          <p:cNvPr id="375" name="Google Shape;375;p5"/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84C256-0857-A18F-E0C7-D3F33C2FF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651499"/>
              </p:ext>
            </p:extLst>
          </p:nvPr>
        </p:nvGraphicFramePr>
        <p:xfrm>
          <a:off x="2403232" y="2228953"/>
          <a:ext cx="931985" cy="1483360"/>
        </p:xfrm>
        <a:graphic>
          <a:graphicData uri="http://schemas.openxmlformats.org/drawingml/2006/table">
            <a:tbl>
              <a:tblPr firstRow="1" bandRow="1"/>
              <a:tblGrid>
                <a:gridCol w="93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0912E0-7AB8-74A3-8FC2-49D9AFAFE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52105"/>
              </p:ext>
            </p:extLst>
          </p:nvPr>
        </p:nvGraphicFramePr>
        <p:xfrm>
          <a:off x="4334607" y="2230906"/>
          <a:ext cx="920263" cy="1483360"/>
        </p:xfrm>
        <a:graphic>
          <a:graphicData uri="http://schemas.openxmlformats.org/drawingml/2006/table">
            <a:tbl>
              <a:tblPr firstRow="1" bandRow="1"/>
              <a:tblGrid>
                <a:gridCol w="920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Multiply 7">
            <a:extLst>
              <a:ext uri="{FF2B5EF4-FFF2-40B4-BE49-F238E27FC236}">
                <a16:creationId xmlns:a16="http://schemas.microsoft.com/office/drawing/2014/main" id="{21E86AD0-670A-9A50-87E4-1A1A877C31D5}"/>
              </a:ext>
            </a:extLst>
          </p:cNvPr>
          <p:cNvSpPr/>
          <p:nvPr/>
        </p:nvSpPr>
        <p:spPr>
          <a:xfrm>
            <a:off x="4334607" y="2861998"/>
            <a:ext cx="1078523" cy="1031631"/>
          </a:xfrm>
          <a:prstGeom prst="mathMultiply">
            <a:avLst>
              <a:gd name="adj1" fmla="val 13293"/>
            </a:avLst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36EC3B-4B5E-5038-8685-94F707D93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89427"/>
              </p:ext>
            </p:extLst>
          </p:nvPr>
        </p:nvGraphicFramePr>
        <p:xfrm>
          <a:off x="9061933" y="2228953"/>
          <a:ext cx="885097" cy="1483360"/>
        </p:xfrm>
        <a:graphic>
          <a:graphicData uri="http://schemas.openxmlformats.org/drawingml/2006/table">
            <a:tbl>
              <a:tblPr firstRow="1" bandRow="1"/>
              <a:tblGrid>
                <a:gridCol w="885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3CAD2FF1-9A04-6090-F297-187348A3A4B3}"/>
              </a:ext>
            </a:extLst>
          </p:cNvPr>
          <p:cNvSpPr/>
          <p:nvPr/>
        </p:nvSpPr>
        <p:spPr>
          <a:xfrm>
            <a:off x="6412521" y="2636524"/>
            <a:ext cx="1567966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A4237A02-AF45-4355-1F0E-BB14B3A2262C}"/>
              </a:ext>
            </a:extLst>
          </p:cNvPr>
          <p:cNvSpPr/>
          <p:nvPr/>
        </p:nvSpPr>
        <p:spPr>
          <a:xfrm>
            <a:off x="3663463" y="2861998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8" name="Right Arrow 13">
            <a:extLst>
              <a:ext uri="{FF2B5EF4-FFF2-40B4-BE49-F238E27FC236}">
                <a16:creationId xmlns:a16="http://schemas.microsoft.com/office/drawing/2014/main" id="{396FF825-BBE1-7198-0A4F-D9A4A22E4DDC}"/>
              </a:ext>
            </a:extLst>
          </p:cNvPr>
          <p:cNvSpPr/>
          <p:nvPr/>
        </p:nvSpPr>
        <p:spPr>
          <a:xfrm>
            <a:off x="5656381" y="2848514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9" name="Right Arrow 14">
            <a:extLst>
              <a:ext uri="{FF2B5EF4-FFF2-40B4-BE49-F238E27FC236}">
                <a16:creationId xmlns:a16="http://schemas.microsoft.com/office/drawing/2014/main" id="{815E3CB8-9493-DE87-E3B1-62E4F61DDC31}"/>
              </a:ext>
            </a:extLst>
          </p:cNvPr>
          <p:cNvSpPr/>
          <p:nvPr/>
        </p:nvSpPr>
        <p:spPr>
          <a:xfrm>
            <a:off x="8332175" y="2848514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A7973-A8FC-1017-FD7A-16340E7791A9}"/>
              </a:ext>
            </a:extLst>
          </p:cNvPr>
          <p:cNvSpPr txBox="1"/>
          <p:nvPr/>
        </p:nvSpPr>
        <p:spPr>
          <a:xfrm>
            <a:off x="2146701" y="1612934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Population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6F343-236B-CDFA-3C0F-9BEAFB8C8E36}"/>
              </a:ext>
            </a:extLst>
          </p:cNvPr>
          <p:cNvSpPr txBox="1"/>
          <p:nvPr/>
        </p:nvSpPr>
        <p:spPr>
          <a:xfrm>
            <a:off x="4226808" y="1612052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Selection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E878F7-13DC-8A70-DB23-BFC59DEC8286}"/>
              </a:ext>
            </a:extLst>
          </p:cNvPr>
          <p:cNvSpPr txBox="1"/>
          <p:nvPr/>
        </p:nvSpPr>
        <p:spPr>
          <a:xfrm>
            <a:off x="8626717" y="1676629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Offspring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3" name="Curved Left Arrow 18">
            <a:extLst>
              <a:ext uri="{FF2B5EF4-FFF2-40B4-BE49-F238E27FC236}">
                <a16:creationId xmlns:a16="http://schemas.microsoft.com/office/drawing/2014/main" id="{847FCF76-BD46-8F67-C7F7-149EE083E9B4}"/>
              </a:ext>
            </a:extLst>
          </p:cNvPr>
          <p:cNvSpPr/>
          <p:nvPr/>
        </p:nvSpPr>
        <p:spPr>
          <a:xfrm rot="5400000">
            <a:off x="5440484" y="1026362"/>
            <a:ext cx="1311032" cy="7045568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900DC6-ED35-0B6D-440E-8EA3AE4565C0}"/>
              </a:ext>
            </a:extLst>
          </p:cNvPr>
          <p:cNvSpPr txBox="1"/>
          <p:nvPr/>
        </p:nvSpPr>
        <p:spPr>
          <a:xfrm>
            <a:off x="5656381" y="4585515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359C8A8-6C8E-A4D2-E21C-93070E88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01069586-6B44-2EBA-1509-45DC2D8227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(Proportional Selection)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8B452C2E-68EF-6576-3AFF-8CB8F4ABF17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91126" y="1233824"/>
                <a:ext cx="11154183" cy="4943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vi-V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là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quần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thể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có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cá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thể</a:t>
                </a:r>
                <a:r>
                  <a:rPr lang="en-US" sz="2400" dirty="0">
                    <a:latin typeface="+mn-lt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là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cá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thể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thứ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của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+mn-lt"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400" i="1" dirty="0" smtClean="0">
                            <a:latin typeface="Cambria Math" panose="02040503050406030204" pitchFamily="18" charset="0"/>
                          </a:rPr>
                          <m:t>fitness</m:t>
                        </m:r>
                        <m:r>
                          <a:rPr lang="vi-VN" sz="24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sz="24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là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độ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thích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nghi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của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.</a:t>
                </a:r>
              </a:p>
              <a:p>
                <a:r>
                  <a:rPr lang="en-US" sz="2400" dirty="0" err="1">
                    <a:latin typeface="+mn-lt"/>
                  </a:rPr>
                  <a:t>Tổng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giá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trị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thích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nghi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của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+mn-lt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is-I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vi-V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is-IS" sz="2400" i="1">
                            <a:latin typeface="Cambria Math" panose="02040503050406030204" pitchFamily="18" charset="0"/>
                          </a:rPr>
                          <m:t>fitness</m:t>
                        </m:r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vi-V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2400" dirty="0">
                  <a:latin typeface="+mn-lt"/>
                </a:endParaRPr>
              </a:p>
              <a:p>
                <a:r>
                  <a:rPr lang="en-US" sz="2400" dirty="0" err="1">
                    <a:solidFill>
                      <a:srgbClr val="FF0000"/>
                    </a:solidFill>
                    <a:latin typeface="+mn-lt"/>
                  </a:rPr>
                  <a:t>Xác</a:t>
                </a:r>
                <a:r>
                  <a:rPr lang="en-US" sz="24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+mn-lt"/>
                  </a:rPr>
                  <a:t>suất</a:t>
                </a:r>
                <a:r>
                  <a:rPr lang="en-US" sz="24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+mn-lt"/>
                  </a:rPr>
                  <a:t>cá</a:t>
                </a:r>
                <a:r>
                  <a:rPr lang="en-US" sz="24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+mn-lt"/>
                  </a:rPr>
                  <a:t>thể</a:t>
                </a:r>
                <a:r>
                  <a:rPr lang="en-US" sz="24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+mn-lt"/>
                  </a:rPr>
                  <a:t>được</a:t>
                </a:r>
                <a:r>
                  <a:rPr lang="en-US" sz="24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+mn-lt"/>
                  </a:rPr>
                  <a:t>chọn</a:t>
                </a:r>
                <a:r>
                  <a:rPr lang="en-US" sz="24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400" dirty="0">
                    <a:latin typeface="+mn-lt"/>
                  </a:rPr>
                  <a:t>= </a:t>
                </a:r>
                <a:r>
                  <a:rPr lang="en-US" sz="2400" dirty="0" err="1">
                    <a:latin typeface="+mn-lt"/>
                  </a:rPr>
                  <a:t>tỷ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lệ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đóng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góp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của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cho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tổng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giá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trị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thích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nghi</a:t>
                </a:r>
                <a:r>
                  <a:rPr lang="en-US" sz="2400" dirty="0">
                    <a:latin typeface="+mn-lt"/>
                  </a:rPr>
                  <a:t> </a:t>
                </a:r>
                <a:r>
                  <a:rPr lang="en-US" sz="2400" dirty="0" err="1">
                    <a:latin typeface="+mn-lt"/>
                  </a:rPr>
                  <a:t>của</a:t>
                </a:r>
                <a:r>
                  <a:rPr lang="en-US" sz="24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vi-V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vi-VN" sz="2400" i="1" smtClean="0">
                              <a:latin typeface="Cambria Math" panose="02040503050406030204" pitchFamily="18" charset="0"/>
                            </a:rPr>
                            <m:t>fitness</m:t>
                          </m:r>
                          <m:r>
                            <a:rPr lang="vi-V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vi-VN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vi-VN" sz="2400" b="0" i="1" dirty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is-I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is-IS" sz="2400" i="1">
                                  <a:latin typeface="Cambria Math" panose="02040503050406030204" pitchFamily="18" charset="0"/>
                                </a:rPr>
                                <m:t>fitness</m:t>
                              </m:r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vi-V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vi-VN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>
                  <a:latin typeface="+mn-lt"/>
                </a:endParaRPr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6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8B452C2E-68EF-6576-3AFF-8CB8F4ABF17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1126" y="1233824"/>
                <a:ext cx="11154183" cy="4943139"/>
              </a:xfrm>
              <a:prstGeom prst="rect">
                <a:avLst/>
              </a:prstGeom>
              <a:blipFill>
                <a:blip r:embed="rId3"/>
                <a:stretch>
                  <a:fillRect l="-546" r="-8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B446A337-2900-13CC-D019-06249EC76B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F8CA02B-7FDF-F26F-32CE-6309EDE9CF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54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80850AC-F959-651A-8780-D024D44D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156FA446-752A-A7B9-0A2F-630C18924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(Proportional Selection) –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CAB95E6-C378-E842-6F5F-9A33C6EBA36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91126" y="1233824"/>
                <a:ext cx="11154183" cy="4943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r>
                  <a:rPr lang="en-US" sz="2400" dirty="0">
                    <a:latin typeface="+mj-lt"/>
                  </a:rPr>
                  <a:t>Một </a:t>
                </a:r>
                <a:r>
                  <a:rPr lang="en-US" sz="2400" dirty="0" err="1">
                    <a:latin typeface="+mj-lt"/>
                  </a:rPr>
                  <a:t>quần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5 </a:t>
                </a:r>
                <a:r>
                  <a:rPr lang="en-US" sz="2400" dirty="0" err="1">
                    <a:latin typeface="+mj-lt"/>
                  </a:rPr>
                  <a:t>cá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với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độ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thích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nghi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là</a:t>
                </a:r>
                <a:r>
                  <a:rPr lang="en-US" sz="2400" dirty="0">
                    <a:latin typeface="+mj-lt"/>
                  </a:rPr>
                  <a:t> (1, 4, 3, 1, 1).</a:t>
                </a:r>
              </a:p>
              <a:p>
                <a:r>
                  <a:rPr lang="en-US" sz="2400" dirty="0" err="1">
                    <a:latin typeface="+mj-lt"/>
                  </a:rPr>
                  <a:t>Tỷ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lệ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đóng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góp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của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từng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cá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vào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tổng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giá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trị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thích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nghi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là</a:t>
                </a:r>
                <a:r>
                  <a:rPr lang="en-US" sz="2400" dirty="0">
                    <a:latin typeface="+mj-lt"/>
                  </a:rPr>
                  <a:t> (0.1, 0.4, 0.3, 0.1, 0.1) </a:t>
                </a:r>
                <a:r>
                  <a:rPr lang="en-US" sz="2400" dirty="0">
                    <a:latin typeface="+mj-lt"/>
                    <a:sym typeface="Wingdings"/>
                  </a:rPr>
                  <a:t> </a:t>
                </a:r>
                <a:r>
                  <a:rPr lang="en-US" sz="2400" dirty="0" err="1">
                    <a:latin typeface="+mj-lt"/>
                    <a:sym typeface="Wingdings"/>
                  </a:rPr>
                  <a:t>xác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suất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được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chọn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vi-VN" sz="24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của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từng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cá</a:t>
                </a:r>
                <a:r>
                  <a:rPr lang="en-US" sz="2400" dirty="0">
                    <a:latin typeface="+mj-lt"/>
                    <a:sym typeface="Wingdings"/>
                  </a:rPr>
                  <a:t> </a:t>
                </a:r>
                <a:r>
                  <a:rPr lang="en-US" sz="2400" dirty="0" err="1">
                    <a:latin typeface="+mj-lt"/>
                    <a:sym typeface="Wingdings"/>
                  </a:rPr>
                  <a:t>thể</a:t>
                </a:r>
                <a:r>
                  <a:rPr lang="en-US" sz="2400" dirty="0">
                    <a:latin typeface="+mj-lt"/>
                    <a:sym typeface="Wingdings"/>
                  </a:rPr>
                  <a:t>.</a:t>
                </a:r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6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CAB95E6-C378-E842-6F5F-9A33C6EBA36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1126" y="1233824"/>
                <a:ext cx="11154183" cy="4943139"/>
              </a:xfrm>
              <a:prstGeom prst="rect">
                <a:avLst/>
              </a:prstGeom>
              <a:blipFill>
                <a:blip r:embed="rId3"/>
                <a:stretch>
                  <a:fillRect l="-546" r="-8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3F0E35E3-C08D-48FB-CE99-1B45EDFF6A3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2C2195CD-6872-E409-B25B-585A75A1B0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6</a:t>
            </a:fld>
            <a:endParaRPr/>
          </a:p>
        </p:txBody>
      </p:sp>
      <p:graphicFrame>
        <p:nvGraphicFramePr>
          <p:cNvPr id="2" name="Content Placeholder 5">
            <a:extLst>
              <a:ext uri="{FF2B5EF4-FFF2-40B4-BE49-F238E27FC236}">
                <a16:creationId xmlns:a16="http://schemas.microsoft.com/office/drawing/2014/main" id="{3B9D0B32-6E4C-0B91-98C4-8E9D95E610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9618493"/>
              </p:ext>
            </p:extLst>
          </p:nvPr>
        </p:nvGraphicFramePr>
        <p:xfrm>
          <a:off x="4272728" y="2962413"/>
          <a:ext cx="3582488" cy="32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76178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D63E31F4-82BF-B41E-A9EF-92686C4E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38154058-3952-5442-45E1-F4FED86124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(Proportional Selection) –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B8AD27F-BB54-8CF4-C8C7-1D9993045E2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711252" y="1590090"/>
                <a:ext cx="6034057" cy="45868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>
                  <a:buFontTx/>
                  <a:buNone/>
                </a:pPr>
                <a:r>
                  <a:rPr lang="en-US" sz="2400" b="1" kern="0" dirty="0">
                    <a:latin typeface="+mj-lt"/>
                  </a:rPr>
                  <a:t>Ví </a:t>
                </a:r>
                <a:r>
                  <a:rPr lang="en-US" sz="2400" b="1" kern="0" dirty="0" err="1">
                    <a:latin typeface="+mj-lt"/>
                  </a:rPr>
                  <a:t>dụ</a:t>
                </a:r>
                <a:r>
                  <a:rPr lang="en-US" sz="2400" b="1" kern="0" dirty="0">
                    <a:latin typeface="+mj-lt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vi-VN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vi-V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is-IS" sz="2400">
                        <a:latin typeface="+mn-lt"/>
                      </a:rPr>
                      <m:t>0.37</m:t>
                    </m:r>
                  </m:oMath>
                </a14:m>
                <a:r>
                  <a:rPr lang="is-IS" sz="2400" dirty="0">
                    <a:latin typeface="+mn-lt"/>
                  </a:rPr>
                  <a:t> </a:t>
                </a:r>
                <a:r>
                  <a:rPr lang="is-IS" sz="2400" dirty="0">
                    <a:latin typeface="+mn-lt"/>
                    <a:sym typeface="Wingdings"/>
                  </a:rPr>
                  <a:t> lựa chọn cá thể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is-IS" sz="24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vi-V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is-IS" sz="2400">
                        <a:latin typeface="+mn-lt"/>
                      </a:rPr>
                      <m:t>0.07</m:t>
                    </m:r>
                  </m:oMath>
                </a14:m>
                <a:r>
                  <a:rPr lang="is-IS" sz="2400" dirty="0">
                    <a:latin typeface="+mn-lt"/>
                  </a:rPr>
                  <a:t> </a:t>
                </a:r>
                <a:r>
                  <a:rPr lang="is-IS" sz="2400" dirty="0">
                    <a:latin typeface="+mn-lt"/>
                    <a:sym typeface="Wingdings"/>
                  </a:rPr>
                  <a:t> lựa chọn cá thể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s-IS" sz="24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vi-V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uk-UA" sz="2400">
                        <a:latin typeface="+mn-lt"/>
                      </a:rPr>
                      <m:t>0.39</m:t>
                    </m:r>
                  </m:oMath>
                </a14:m>
                <a:r>
                  <a:rPr lang="vi-VN" sz="2400" dirty="0">
                    <a:latin typeface="+mn-lt"/>
                  </a:rPr>
                  <a:t> </a:t>
                </a:r>
                <a:r>
                  <a:rPr lang="vi-VN" sz="2400" dirty="0">
                    <a:latin typeface="+mn-lt"/>
                    <a:sym typeface="Wingdings"/>
                  </a:rPr>
                  <a:t> lựa chọn cá thể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uk-UA" sz="24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vi-V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nb-NO" sz="2400">
                        <a:latin typeface="+mn-lt"/>
                      </a:rPr>
                      <m:t>0.72</m:t>
                    </m:r>
                  </m:oMath>
                </a14:m>
                <a:r>
                  <a:rPr lang="nb-NO" sz="2400" dirty="0">
                    <a:latin typeface="+mn-lt"/>
                  </a:rPr>
                  <a:t> </a:t>
                </a:r>
                <a:r>
                  <a:rPr lang="nb-NO" sz="2400" dirty="0">
                    <a:latin typeface="+mn-lt"/>
                    <a:sym typeface="Wingdings"/>
                  </a:rPr>
                  <a:t> </a:t>
                </a:r>
                <a:r>
                  <a:rPr lang="nb-NO" sz="2400" dirty="0" err="1">
                    <a:latin typeface="+mn-lt"/>
                    <a:sym typeface="Wingdings"/>
                  </a:rPr>
                  <a:t>lựa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:r>
                  <a:rPr lang="nb-NO" sz="2400" dirty="0" err="1">
                    <a:latin typeface="+mn-lt"/>
                    <a:sym typeface="Wingdings"/>
                  </a:rPr>
                  <a:t>chọn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:r>
                  <a:rPr lang="nb-NO" sz="2400" dirty="0" err="1">
                    <a:latin typeface="+mn-lt"/>
                    <a:sym typeface="Wingdings"/>
                  </a:rPr>
                  <a:t>cá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:r>
                  <a:rPr lang="nb-NO" sz="2400" dirty="0" err="1">
                    <a:latin typeface="+mn-lt"/>
                    <a:sym typeface="Wingdings"/>
                  </a:rPr>
                  <a:t>thể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nb-NO" sz="24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vi-V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hr-HR" sz="2400">
                        <a:latin typeface="+mn-lt"/>
                      </a:rPr>
                      <m:t>0.34</m:t>
                    </m:r>
                  </m:oMath>
                </a14:m>
                <a:r>
                  <a:rPr lang="nb-NO" sz="2400" dirty="0">
                    <a:latin typeface="+mn-lt"/>
                  </a:rPr>
                  <a:t>  </a:t>
                </a:r>
                <a:r>
                  <a:rPr lang="nb-NO" sz="2400" dirty="0">
                    <a:latin typeface="+mn-lt"/>
                    <a:sym typeface="Wingdings"/>
                  </a:rPr>
                  <a:t> </a:t>
                </a:r>
                <a:r>
                  <a:rPr lang="nb-NO" sz="2400" dirty="0" err="1">
                    <a:latin typeface="+mn-lt"/>
                    <a:sym typeface="Wingdings"/>
                  </a:rPr>
                  <a:t>lựa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:r>
                  <a:rPr lang="nb-NO" sz="2400" dirty="0" err="1">
                    <a:latin typeface="+mn-lt"/>
                    <a:sym typeface="Wingdings"/>
                  </a:rPr>
                  <a:t>chọn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:r>
                  <a:rPr lang="nb-NO" sz="2400" dirty="0" err="1">
                    <a:latin typeface="+mn-lt"/>
                    <a:sym typeface="Wingdings"/>
                  </a:rPr>
                  <a:t>cá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:r>
                  <a:rPr lang="nb-NO" sz="2400" dirty="0" err="1">
                    <a:latin typeface="+mn-lt"/>
                    <a:sym typeface="Wingdings"/>
                  </a:rPr>
                  <a:t>thể</a:t>
                </a:r>
                <a:r>
                  <a:rPr lang="nb-NO" sz="2400" dirty="0">
                    <a:latin typeface="+mn-lt"/>
                    <a:sym typeface="Wingding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nb-NO" sz="2400" dirty="0">
                  <a:latin typeface="+mn-lt"/>
                </a:endParaRPr>
              </a:p>
              <a:p>
                <a:endParaRPr lang="is-IS" sz="1600" kern="0" dirty="0"/>
              </a:p>
              <a:p>
                <a:endParaRPr lang="is-IS" sz="1600" kern="0" dirty="0"/>
              </a:p>
              <a:p>
                <a:endParaRPr lang="en-US" sz="1600" kern="0" dirty="0"/>
              </a:p>
              <a:p>
                <a:endParaRPr lang="en-US" sz="1600" kern="0" dirty="0"/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6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B8AD27F-BB54-8CF4-C8C7-1D9993045E2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711252" y="1590090"/>
                <a:ext cx="6034057" cy="4586873"/>
              </a:xfrm>
              <a:prstGeom prst="rect">
                <a:avLst/>
              </a:prstGeom>
              <a:blipFill>
                <a:blip r:embed="rId3"/>
                <a:stretch>
                  <a:fillRect l="-16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2FC1CCD8-ACFA-678D-DA1E-EBDE71CE4A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B7F20DB-374C-59F2-CCEF-3ACF31F20E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7</a:t>
            </a:fld>
            <a:endParaRPr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0DC742D5-BDD2-DB7D-E256-96F42BDD5D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8746247"/>
              </p:ext>
            </p:extLst>
          </p:nvPr>
        </p:nvGraphicFramePr>
        <p:xfrm>
          <a:off x="643401" y="1590090"/>
          <a:ext cx="4317274" cy="4305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8505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AA884E0-6DBA-FEB7-F039-08048387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4610FA29-DAEA-9566-EA9E-0DF05DB9E9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(Proportional Selection)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FCC34B4F-F9EA-C429-0749-8B88A2145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077" y="1081817"/>
            <a:ext cx="10687723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0">
              <a:spcBef>
                <a:spcPts val="0"/>
              </a:spcBef>
              <a:buNone/>
            </a:pPr>
            <a:r>
              <a:rPr lang="en-US" sz="2400" b="1" i="1" dirty="0" err="1"/>
              <a:t>Khuyết</a:t>
            </a:r>
            <a:r>
              <a:rPr lang="en-US" sz="2400" b="1" i="1" dirty="0"/>
              <a:t> </a:t>
            </a:r>
            <a:r>
              <a:rPr lang="en-US" sz="2400" b="1" i="1" dirty="0" err="1"/>
              <a:t>điểm</a:t>
            </a:r>
            <a:r>
              <a:rPr lang="en-US" sz="2400" b="1" i="1" dirty="0"/>
              <a:t> </a:t>
            </a:r>
            <a:r>
              <a:rPr lang="en-US" sz="2400" b="1" i="1" dirty="0" err="1"/>
              <a:t>của</a:t>
            </a:r>
            <a:r>
              <a:rPr lang="en-US" sz="2400" b="1" i="1" dirty="0"/>
              <a:t> Proportional Selection </a:t>
            </a:r>
            <a:r>
              <a:rPr lang="en-US" sz="2400" b="1" i="1" dirty="0" err="1"/>
              <a:t>là</a:t>
            </a:r>
            <a:r>
              <a:rPr lang="en-US" sz="2400" b="1" i="1" dirty="0"/>
              <a:t> </a:t>
            </a:r>
            <a:r>
              <a:rPr lang="en-US" sz="2400" b="1" i="1" dirty="0" err="1"/>
              <a:t>gì</a:t>
            </a:r>
            <a:r>
              <a:rPr lang="en-US" sz="2400" b="1" i="1" dirty="0"/>
              <a:t>?</a:t>
            </a:r>
          </a:p>
          <a:p>
            <a:pPr marL="635000" indent="-457200">
              <a:spcBef>
                <a:spcPts val="0"/>
              </a:spcBef>
            </a:pP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thích</a:t>
            </a:r>
            <a:r>
              <a:rPr lang="en-US" sz="2400" dirty="0"/>
              <a:t> </a:t>
            </a:r>
            <a:r>
              <a:rPr lang="en-US" sz="2400" dirty="0" err="1"/>
              <a:t>nghi</a:t>
            </a:r>
            <a:r>
              <a:rPr lang="en-US" sz="2400" dirty="0"/>
              <a:t> (fitness)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r>
              <a:rPr lang="en-US" sz="2400" dirty="0"/>
              <a:t>.</a:t>
            </a:r>
          </a:p>
          <a:p>
            <a:pPr marL="635000" indent="-457200">
              <a:spcBef>
                <a:spcPts val="0"/>
              </a:spcBef>
            </a:pPr>
            <a:r>
              <a:rPr lang="en-US" sz="2400" dirty="0" err="1"/>
              <a:t>Cá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(elite)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lựa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không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đảm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bảo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cơ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chế</a:t>
            </a:r>
            <a:r>
              <a:rPr lang="en-US" sz="2400" dirty="0">
                <a:sym typeface="Wingdings" panose="05000000000000000000" pitchFamily="2" charset="2"/>
              </a:rPr>
              <a:t> elitism (</a:t>
            </a:r>
            <a:r>
              <a:rPr lang="en-US" sz="2400" dirty="0" err="1">
                <a:sym typeface="Wingdings" panose="05000000000000000000" pitchFamily="2" charset="2"/>
              </a:rPr>
              <a:t>cá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thể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tốt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nhất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cần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được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bảo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toàn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trong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quần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thể</a:t>
            </a:r>
            <a:r>
              <a:rPr lang="en-US" sz="2400" dirty="0">
                <a:sym typeface="Wingdings" panose="05000000000000000000" pitchFamily="2" charset="2"/>
              </a:rPr>
              <a:t> qua </a:t>
            </a:r>
            <a:r>
              <a:rPr lang="en-US" sz="2400" dirty="0" err="1">
                <a:sym typeface="Wingdings" panose="05000000000000000000" pitchFamily="2" charset="2"/>
              </a:rPr>
              <a:t>các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thế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hệ</a:t>
            </a:r>
            <a:r>
              <a:rPr lang="en-US" sz="2400" dirty="0">
                <a:sym typeface="Wingdings" panose="05000000000000000000" pitchFamily="2" charset="2"/>
              </a:rPr>
              <a:t>).</a:t>
            </a:r>
            <a:endParaRPr sz="2400"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C98E797B-CF52-CD72-5732-435840B6CA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EB3B7738-6E7A-44B5-4C4F-4126B585D5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8</a:t>
            </a:fld>
            <a:endParaRPr/>
          </a:p>
        </p:txBody>
      </p:sp>
      <p:graphicFrame>
        <p:nvGraphicFramePr>
          <p:cNvPr id="2" name="Content Placeholder 5">
            <a:extLst>
              <a:ext uri="{FF2B5EF4-FFF2-40B4-BE49-F238E27FC236}">
                <a16:creationId xmlns:a16="http://schemas.microsoft.com/office/drawing/2014/main" id="{46BD879A-DB0A-201F-8C78-2A61675A74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7031751"/>
              </p:ext>
            </p:extLst>
          </p:nvPr>
        </p:nvGraphicFramePr>
        <p:xfrm>
          <a:off x="4304756" y="3353638"/>
          <a:ext cx="3582488" cy="32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8351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CE03C78-8560-71CA-9264-F5773838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44185D34-AE27-26F1-97E5-607428D136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(Tournament Selection)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7FAC347F-7311-0835-9A84-5D98B5F02E9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4943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Tournament Selection </a:t>
                </a:r>
                <a:r>
                  <a:rPr lang="en-US" sz="2400" dirty="0"/>
                  <a:t>(</a:t>
                </a: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đấu</a:t>
                </a:r>
                <a:r>
                  <a:rPr lang="en-US" sz="2400" dirty="0"/>
                  <a:t> / </a:t>
                </a: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tranh</a:t>
                </a:r>
                <a:r>
                  <a:rPr lang="en-US" sz="2400" dirty="0"/>
                  <a:t>):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lấy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ngẫu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nhiên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</a:t>
                </a:r>
                <a:r>
                  <a:rPr lang="vi-VN" sz="2400" dirty="0"/>
                  <a:t>cá thể từ quần thể và lựa chọn cá thể có độ thích nghi tốt nhất trong số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</a:t>
                </a:r>
                <a:r>
                  <a:rPr lang="vi-VN" sz="2400" dirty="0"/>
                  <a:t>cá thể này.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còn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kích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vòng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đấu</a:t>
                </a:r>
                <a:r>
                  <a:rPr lang="en-US" sz="2400" dirty="0"/>
                  <a:t> (tournament size).</a:t>
                </a:r>
              </a:p>
              <a:p>
                <a:endParaRPr lang="en-US" sz="24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đấu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có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thay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thế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/>
                  <a:t>(with replacement): </a:t>
                </a:r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muốn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cá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từ</a:t>
                </a:r>
                <a:r>
                  <a:rPr lang="en-US" sz="2400" dirty="0"/>
                  <a:t> </a:t>
                </a:r>
                <a:r>
                  <a:rPr lang="en-US" sz="2400" dirty="0" err="1"/>
                  <a:t>quần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thì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thực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đấu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lần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lấy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ngẫu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nhiên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cá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thể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chép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tốt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nhất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lọc</a:t>
                </a:r>
                <a:r>
                  <a:rPr lang="en-US" sz="2400" dirty="0"/>
                  <a:t>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 err="1"/>
                  <a:t>Chọn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giao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đấu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không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có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thay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thế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/>
                  <a:t>(without replacement).</a:t>
                </a:r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4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7FAC347F-7311-0835-9A84-5D98B5F02E9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4943139"/>
              </a:xfrm>
              <a:prstGeom prst="rect">
                <a:avLst/>
              </a:prstGeom>
              <a:blipFill>
                <a:blip r:embed="rId3"/>
                <a:stretch>
                  <a:fillRect l="-570" r="-8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CB6BA043-EB33-793D-BBB6-BA6633A9DA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DF918F0-6EB4-3603-B510-DC2B0E758F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846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AB16E1DD-D23B-6F50-CDF2-2B3A2479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1C163BC0-6004-196E-E748-FEF25F4D4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(Tournament Selection)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86E58B2F-54D1-AE5E-1FD6-4D1B7685CB0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4943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Ví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dụ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chuỗi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phân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có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bit. </a:t>
                </a:r>
              </a:p>
              <a:p>
                <a:pPr marL="0" indent="0">
                  <a:buNone/>
                </a:pP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Tìm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giá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trị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của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để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OneMax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đạt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giá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trị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tối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bg2">
                      <a:lumMod val="50000"/>
                    </a:schemeClr>
                  </a:solidFill>
                  <a:latin typeface="+mj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neMax</m:t>
                          </m:r>
                        </m:sub>
                      </m:sSub>
                      <m:d>
                        <m:dPr>
                          <m:ctrlP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vi-VN" sz="2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2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400" dirty="0"/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86E58B2F-54D1-AE5E-1FD6-4D1B7685CB0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4943139"/>
              </a:xfrm>
              <a:prstGeom prst="rect">
                <a:avLst/>
              </a:prstGeom>
              <a:blipFill>
                <a:blip r:embed="rId3"/>
                <a:stretch>
                  <a:fillRect l="-8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DFF0D08F-CF44-8860-4353-57B1813C67C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8E6262A-0292-E722-756F-C25686F996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05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179B7E1-4328-AFDA-0F35-6018D976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96FC606B-C536-9410-1F64-2F6573FD5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) –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DE44F652-2EBC-D4AB-A6CD-055C0E611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077" y="1081817"/>
            <a:ext cx="10687723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0">
              <a:spcBef>
                <a:spcPts val="0"/>
              </a:spcBef>
              <a:buNone/>
            </a:pPr>
            <a:endParaRPr sz="2400"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B100466F-9040-B2F5-4258-189D060853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78AAEE8-74AC-F45C-F4E9-3D076D84F5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11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112DE5-85BB-DD4A-C5DA-C1B46065A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95391"/>
              </p:ext>
            </p:extLst>
          </p:nvPr>
        </p:nvGraphicFramePr>
        <p:xfrm>
          <a:off x="2822615" y="2126880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CE5520-B7B5-31DE-5D2A-AF09C7149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17286"/>
              </p:ext>
            </p:extLst>
          </p:nvPr>
        </p:nvGraphicFramePr>
        <p:xfrm>
          <a:off x="2822615" y="3168280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EC9EE5-6E97-91EE-63A5-8D1904991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865270"/>
              </p:ext>
            </p:extLst>
          </p:nvPr>
        </p:nvGraphicFramePr>
        <p:xfrm>
          <a:off x="2822615" y="4209680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D1ADEC-E6C9-2653-FE51-55BCCD646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30709"/>
              </p:ext>
            </p:extLst>
          </p:nvPr>
        </p:nvGraphicFramePr>
        <p:xfrm>
          <a:off x="2822615" y="5251080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B353FD-769C-A0AA-173A-BF634323AFC4}"/>
              </a:ext>
            </a:extLst>
          </p:cNvPr>
          <p:cNvSpPr txBox="1"/>
          <p:nvPr/>
        </p:nvSpPr>
        <p:spPr>
          <a:xfrm>
            <a:off x="4719854" y="1364704"/>
            <a:ext cx="275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Tournament Size = 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4C799D-C2D4-3A99-BA39-2C3410CC3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1619"/>
              </p:ext>
            </p:extLst>
          </p:nvPr>
        </p:nvGraphicFramePr>
        <p:xfrm>
          <a:off x="7216816" y="2364852"/>
          <a:ext cx="2152570" cy="386938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ight Arrow 13">
            <a:extLst>
              <a:ext uri="{FF2B5EF4-FFF2-40B4-BE49-F238E27FC236}">
                <a16:creationId xmlns:a16="http://schemas.microsoft.com/office/drawing/2014/main" id="{88162016-F233-9A0A-20EA-E9FF07B7A91C}"/>
              </a:ext>
            </a:extLst>
          </p:cNvPr>
          <p:cNvSpPr/>
          <p:nvPr/>
        </p:nvSpPr>
        <p:spPr>
          <a:xfrm>
            <a:off x="5441950" y="2461587"/>
            <a:ext cx="1308100" cy="193469"/>
          </a:xfrm>
          <a:prstGeom prst="rightArrow">
            <a:avLst/>
          </a:prstGeom>
          <a:solidFill>
            <a:srgbClr val="0000FF"/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7D75841-16F8-FF96-86BB-2A838933F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854934"/>
              </p:ext>
            </p:extLst>
          </p:nvPr>
        </p:nvGraphicFramePr>
        <p:xfrm>
          <a:off x="7216816" y="3406719"/>
          <a:ext cx="2152570" cy="386938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ight Arrow 14">
            <a:extLst>
              <a:ext uri="{FF2B5EF4-FFF2-40B4-BE49-F238E27FC236}">
                <a16:creationId xmlns:a16="http://schemas.microsoft.com/office/drawing/2014/main" id="{B375A397-5B8D-5534-2E95-51E3DD009886}"/>
              </a:ext>
            </a:extLst>
          </p:cNvPr>
          <p:cNvSpPr/>
          <p:nvPr/>
        </p:nvSpPr>
        <p:spPr>
          <a:xfrm>
            <a:off x="5441950" y="3503453"/>
            <a:ext cx="1308100" cy="193469"/>
          </a:xfrm>
          <a:prstGeom prst="rightArrow">
            <a:avLst/>
          </a:prstGeom>
          <a:solidFill>
            <a:srgbClr val="0000FF"/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DC8FEE7-30F8-AAFB-9392-8A35B5737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92831"/>
              </p:ext>
            </p:extLst>
          </p:nvPr>
        </p:nvGraphicFramePr>
        <p:xfrm>
          <a:off x="7216816" y="4448586"/>
          <a:ext cx="2152570" cy="386938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ight Arrow 15">
            <a:extLst>
              <a:ext uri="{FF2B5EF4-FFF2-40B4-BE49-F238E27FC236}">
                <a16:creationId xmlns:a16="http://schemas.microsoft.com/office/drawing/2014/main" id="{016B520A-E57E-A247-75AA-E73CBC162E72}"/>
              </a:ext>
            </a:extLst>
          </p:cNvPr>
          <p:cNvSpPr/>
          <p:nvPr/>
        </p:nvSpPr>
        <p:spPr>
          <a:xfrm>
            <a:off x="5441950" y="4544853"/>
            <a:ext cx="1308100" cy="193469"/>
          </a:xfrm>
          <a:prstGeom prst="rightArrow">
            <a:avLst/>
          </a:prstGeom>
          <a:solidFill>
            <a:srgbClr val="0000FF"/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1EBBE06-7EAF-7C4D-7D46-9FFF7C4A2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777305"/>
              </p:ext>
            </p:extLst>
          </p:nvPr>
        </p:nvGraphicFramePr>
        <p:xfrm>
          <a:off x="7216816" y="5490453"/>
          <a:ext cx="2152570" cy="386938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ight Arrow 16">
            <a:extLst>
              <a:ext uri="{FF2B5EF4-FFF2-40B4-BE49-F238E27FC236}">
                <a16:creationId xmlns:a16="http://schemas.microsoft.com/office/drawing/2014/main" id="{83706F72-2CBD-5304-48D6-B39739436B5D}"/>
              </a:ext>
            </a:extLst>
          </p:cNvPr>
          <p:cNvSpPr/>
          <p:nvPr/>
        </p:nvSpPr>
        <p:spPr>
          <a:xfrm>
            <a:off x="5441950" y="5617125"/>
            <a:ext cx="1308100" cy="193469"/>
          </a:xfrm>
          <a:prstGeom prst="rightArrow">
            <a:avLst/>
          </a:prstGeom>
          <a:solidFill>
            <a:srgbClr val="0000FF"/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60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7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260146F-C661-7A30-4164-86849501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DB18F63C-96E2-EF06-435F-35B2B66DD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) –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DC9B4737-5663-25B7-C0A3-C1566D9C6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077" y="1081817"/>
            <a:ext cx="10687723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indent="0">
              <a:spcBef>
                <a:spcPts val="0"/>
              </a:spcBef>
              <a:buNone/>
            </a:pPr>
            <a:endParaRPr sz="2400"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FE99A47F-34C8-0E77-CCEA-CDEE5B8C1E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BAF613C1-8472-3BD9-6110-E4935B40B5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12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90418-538C-276B-3A42-841F6173ECB5}"/>
              </a:ext>
            </a:extLst>
          </p:cNvPr>
          <p:cNvSpPr txBox="1"/>
          <p:nvPr/>
        </p:nvSpPr>
        <p:spPr>
          <a:xfrm>
            <a:off x="4719854" y="1364704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Tournament Size = 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2A2BCB-E6D4-C87D-1D30-27585F468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264976"/>
              </p:ext>
            </p:extLst>
          </p:nvPr>
        </p:nvGraphicFramePr>
        <p:xfrm>
          <a:off x="2567284" y="2137439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845F95-F40D-9FA5-840C-0E23575AF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33701"/>
              </p:ext>
            </p:extLst>
          </p:nvPr>
        </p:nvGraphicFramePr>
        <p:xfrm>
          <a:off x="2567284" y="2925663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908C0E-6209-65D0-7AC9-9593C7041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06696"/>
              </p:ext>
            </p:extLst>
          </p:nvPr>
        </p:nvGraphicFramePr>
        <p:xfrm>
          <a:off x="2567284" y="4220239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5A2BAE-1A61-6C95-968C-A840F01C0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068696"/>
              </p:ext>
            </p:extLst>
          </p:nvPr>
        </p:nvGraphicFramePr>
        <p:xfrm>
          <a:off x="2567284" y="5002307"/>
          <a:ext cx="2152570" cy="773876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2860D1-FCDE-2F35-6C5A-59340B9E6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351649"/>
              </p:ext>
            </p:extLst>
          </p:nvPr>
        </p:nvGraphicFramePr>
        <p:xfrm>
          <a:off x="7128006" y="2717846"/>
          <a:ext cx="2152570" cy="386938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Right Arrow 14">
            <a:extLst>
              <a:ext uri="{FF2B5EF4-FFF2-40B4-BE49-F238E27FC236}">
                <a16:creationId xmlns:a16="http://schemas.microsoft.com/office/drawing/2014/main" id="{D923DDFB-2604-2479-6C05-836D9D953F4C}"/>
              </a:ext>
            </a:extLst>
          </p:cNvPr>
          <p:cNvSpPr/>
          <p:nvPr/>
        </p:nvSpPr>
        <p:spPr>
          <a:xfrm>
            <a:off x="5353141" y="2809125"/>
            <a:ext cx="1308100" cy="193469"/>
          </a:xfrm>
          <a:prstGeom prst="rightArrow">
            <a:avLst/>
          </a:prstGeom>
          <a:solidFill>
            <a:srgbClr val="0000FF"/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DB5D7E8-063E-2B82-D4B6-59E307DD6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699920"/>
              </p:ext>
            </p:extLst>
          </p:nvPr>
        </p:nvGraphicFramePr>
        <p:xfrm>
          <a:off x="7153406" y="4838163"/>
          <a:ext cx="2152570" cy="386938"/>
        </p:xfrm>
        <a:graphic>
          <a:graphicData uri="http://schemas.openxmlformats.org/drawingml/2006/table">
            <a:tbl>
              <a:tblPr firstRow="1" bandRow="1"/>
              <a:tblGrid>
                <a:gridCol w="430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2138" marR="82138" marT="41069" marB="410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ight Arrow 15">
            <a:extLst>
              <a:ext uri="{FF2B5EF4-FFF2-40B4-BE49-F238E27FC236}">
                <a16:creationId xmlns:a16="http://schemas.microsoft.com/office/drawing/2014/main" id="{0A1CFACA-A59D-3508-796B-897993366047}"/>
              </a:ext>
            </a:extLst>
          </p:cNvPr>
          <p:cNvSpPr/>
          <p:nvPr/>
        </p:nvSpPr>
        <p:spPr>
          <a:xfrm>
            <a:off x="5353141" y="4948655"/>
            <a:ext cx="1308100" cy="193469"/>
          </a:xfrm>
          <a:prstGeom prst="rightArrow">
            <a:avLst/>
          </a:prstGeom>
          <a:solidFill>
            <a:srgbClr val="0000FF"/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74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D26A5BB3-55D1-00AB-D80E-567D0D9E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6C03ADB2-A352-CEC3-353D-6D9EA9043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4408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đấu</a:t>
            </a:r>
            <a:endParaRPr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87E4F889-AC99-AD1F-39DC-84A69AB03DC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2E2D240D-CDCE-93F7-A9DF-44E918911D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13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FEF771-25C1-2B6E-7D39-8D79A6657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36442"/>
              </p:ext>
            </p:extLst>
          </p:nvPr>
        </p:nvGraphicFramePr>
        <p:xfrm>
          <a:off x="2403232" y="1524423"/>
          <a:ext cx="931985" cy="1483360"/>
        </p:xfrm>
        <a:graphic>
          <a:graphicData uri="http://schemas.openxmlformats.org/drawingml/2006/table">
            <a:tbl>
              <a:tblPr firstRow="1" bandRow="1"/>
              <a:tblGrid>
                <a:gridCol w="93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783E47-C230-8D1F-ADFD-FF9FA08A5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72546"/>
              </p:ext>
            </p:extLst>
          </p:nvPr>
        </p:nvGraphicFramePr>
        <p:xfrm>
          <a:off x="4334607" y="1526376"/>
          <a:ext cx="920263" cy="1483360"/>
        </p:xfrm>
        <a:graphic>
          <a:graphicData uri="http://schemas.openxmlformats.org/drawingml/2006/table">
            <a:tbl>
              <a:tblPr firstRow="1" bandRow="1"/>
              <a:tblGrid>
                <a:gridCol w="920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50000"/>
                        <a:lumOff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Multiply 7">
            <a:extLst>
              <a:ext uri="{FF2B5EF4-FFF2-40B4-BE49-F238E27FC236}">
                <a16:creationId xmlns:a16="http://schemas.microsoft.com/office/drawing/2014/main" id="{E2C1DCC4-A553-FC5F-4B82-CCABC9245F32}"/>
              </a:ext>
            </a:extLst>
          </p:cNvPr>
          <p:cNvSpPr/>
          <p:nvPr/>
        </p:nvSpPr>
        <p:spPr>
          <a:xfrm>
            <a:off x="4334607" y="2157468"/>
            <a:ext cx="1078523" cy="1031631"/>
          </a:xfrm>
          <a:prstGeom prst="mathMultiply">
            <a:avLst>
              <a:gd name="adj1" fmla="val 13293"/>
            </a:avLst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175ACB-C65B-951E-D58A-C4620C245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72025"/>
              </p:ext>
            </p:extLst>
          </p:nvPr>
        </p:nvGraphicFramePr>
        <p:xfrm>
          <a:off x="9061933" y="1524423"/>
          <a:ext cx="885097" cy="1483360"/>
        </p:xfrm>
        <a:graphic>
          <a:graphicData uri="http://schemas.openxmlformats.org/drawingml/2006/table">
            <a:tbl>
              <a:tblPr firstRow="1" bandRow="1"/>
              <a:tblGrid>
                <a:gridCol w="885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EC2B26AD-364D-A529-FBCD-859F1A60E528}"/>
              </a:ext>
            </a:extLst>
          </p:cNvPr>
          <p:cNvSpPr/>
          <p:nvPr/>
        </p:nvSpPr>
        <p:spPr>
          <a:xfrm>
            <a:off x="6412521" y="1931994"/>
            <a:ext cx="1567966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088E6B1B-6A36-D399-D2E9-6BAC8183315D}"/>
              </a:ext>
            </a:extLst>
          </p:cNvPr>
          <p:cNvSpPr/>
          <p:nvPr/>
        </p:nvSpPr>
        <p:spPr>
          <a:xfrm>
            <a:off x="3663463" y="2157468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8" name="Right Arrow 13">
            <a:extLst>
              <a:ext uri="{FF2B5EF4-FFF2-40B4-BE49-F238E27FC236}">
                <a16:creationId xmlns:a16="http://schemas.microsoft.com/office/drawing/2014/main" id="{D835407B-7BC0-A236-7A15-7F3AEC869CC3}"/>
              </a:ext>
            </a:extLst>
          </p:cNvPr>
          <p:cNvSpPr/>
          <p:nvPr/>
        </p:nvSpPr>
        <p:spPr>
          <a:xfrm>
            <a:off x="5656381" y="2143984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9" name="Right Arrow 14">
            <a:extLst>
              <a:ext uri="{FF2B5EF4-FFF2-40B4-BE49-F238E27FC236}">
                <a16:creationId xmlns:a16="http://schemas.microsoft.com/office/drawing/2014/main" id="{3345A092-3751-D12A-C39D-7D0E0CF2B7DB}"/>
              </a:ext>
            </a:extLst>
          </p:cNvPr>
          <p:cNvSpPr/>
          <p:nvPr/>
        </p:nvSpPr>
        <p:spPr>
          <a:xfrm>
            <a:off x="8332175" y="2143984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9E42C-5945-5CA5-EDB0-9CA6865C462B}"/>
              </a:ext>
            </a:extLst>
          </p:cNvPr>
          <p:cNvSpPr txBox="1"/>
          <p:nvPr/>
        </p:nvSpPr>
        <p:spPr>
          <a:xfrm>
            <a:off x="2146701" y="908404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Population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20BEB-D180-CD74-B575-ADD91FF82E70}"/>
              </a:ext>
            </a:extLst>
          </p:cNvPr>
          <p:cNvSpPr txBox="1"/>
          <p:nvPr/>
        </p:nvSpPr>
        <p:spPr>
          <a:xfrm>
            <a:off x="4226808" y="907522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Selection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50978-C47C-1870-030F-5AF693D0B699}"/>
              </a:ext>
            </a:extLst>
          </p:cNvPr>
          <p:cNvSpPr txBox="1"/>
          <p:nvPr/>
        </p:nvSpPr>
        <p:spPr>
          <a:xfrm>
            <a:off x="8626717" y="972099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Offspring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3" name="Curved Left Arrow 18">
            <a:extLst>
              <a:ext uri="{FF2B5EF4-FFF2-40B4-BE49-F238E27FC236}">
                <a16:creationId xmlns:a16="http://schemas.microsoft.com/office/drawing/2014/main" id="{81FE4AD6-065D-A5CF-9FA0-98DA91D3FEDE}"/>
              </a:ext>
            </a:extLst>
          </p:cNvPr>
          <p:cNvSpPr/>
          <p:nvPr/>
        </p:nvSpPr>
        <p:spPr>
          <a:xfrm rot="5400000">
            <a:off x="5440484" y="321832"/>
            <a:ext cx="1311032" cy="7045568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435387-E137-8B0A-1BA6-06D5D15D7A0C}"/>
              </a:ext>
            </a:extLst>
          </p:cNvPr>
          <p:cNvSpPr txBox="1"/>
          <p:nvPr/>
        </p:nvSpPr>
        <p:spPr>
          <a:xfrm>
            <a:off x="5656381" y="3880985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15" name="Google Shape;374;p5">
            <a:extLst>
              <a:ext uri="{FF2B5EF4-FFF2-40B4-BE49-F238E27FC236}">
                <a16:creationId xmlns:a16="http://schemas.microsoft.com/office/drawing/2014/main" id="{C1676431-87B3-AC84-3335-6C3C6D4ED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2865" y="3092747"/>
            <a:ext cx="11154183" cy="49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endParaRPr lang="en-US" sz="2400" dirty="0">
              <a:latin typeface="+mn-lt"/>
            </a:endParaRPr>
          </a:p>
          <a:p>
            <a:pPr marL="177800" indent="0">
              <a:spcBef>
                <a:spcPts val="0"/>
              </a:spcBef>
              <a:buNone/>
            </a:pPr>
            <a:endParaRPr sz="2600" dirty="0"/>
          </a:p>
        </p:txBody>
      </p:sp>
      <p:sp>
        <p:nvSpPr>
          <p:cNvPr id="16" name="Google Shape;374;p5">
            <a:extLst>
              <a:ext uri="{FF2B5EF4-FFF2-40B4-BE49-F238E27FC236}">
                <a16:creationId xmlns:a16="http://schemas.microsoft.com/office/drawing/2014/main" id="{D04E8A31-93FB-59C9-4E7E-2FF201C2CCBB}"/>
              </a:ext>
            </a:extLst>
          </p:cNvPr>
          <p:cNvSpPr txBox="1">
            <a:spLocks/>
          </p:cNvSpPr>
          <p:nvPr/>
        </p:nvSpPr>
        <p:spPr>
          <a:xfrm>
            <a:off x="297831" y="4664468"/>
            <a:ext cx="11419217" cy="205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just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just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just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just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just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35000" indent="-457200">
              <a:spcBef>
                <a:spcPts val="0"/>
              </a:spcBef>
            </a:pP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lọc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đấu</a:t>
            </a:r>
            <a:r>
              <a:rPr lang="en-US" sz="2000" dirty="0"/>
              <a:t> (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) </a:t>
            </a:r>
            <a:r>
              <a:rPr lang="en-US" sz="2000" dirty="0" err="1"/>
              <a:t>đảm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tốt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lựa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lọc</a:t>
            </a:r>
            <a:r>
              <a:rPr lang="en-US" sz="2000" dirty="0"/>
              <a:t>. </a:t>
            </a:r>
          </a:p>
          <a:p>
            <a:pPr marL="635000" indent="-457200">
              <a:spcBef>
                <a:spcPts val="0"/>
              </a:spcBef>
            </a:pPr>
            <a:r>
              <a:rPr lang="en-US" sz="2000" dirty="0" err="1"/>
              <a:t>Nhưng</a:t>
            </a:r>
            <a:r>
              <a:rPr lang="en-US" sz="2000" dirty="0"/>
              <a:t> </a:t>
            </a:r>
            <a:r>
              <a:rPr lang="en-US" sz="2000" dirty="0" err="1"/>
              <a:t>nếu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biến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thì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con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tốt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cha </a:t>
            </a:r>
            <a:r>
              <a:rPr lang="en-US" sz="2000" dirty="0" err="1"/>
              <a:t>mẹ</a:t>
            </a:r>
            <a:r>
              <a:rPr lang="en-US" sz="2000" dirty="0"/>
              <a:t> </a:t>
            </a:r>
            <a:r>
              <a:rPr lang="en-US" sz="2000" dirty="0" err="1"/>
              <a:t>tốt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quần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(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elite). Khi </a:t>
            </a:r>
            <a:r>
              <a:rPr lang="en-US" sz="2000" dirty="0" err="1"/>
              <a:t>quần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con </a:t>
            </a:r>
            <a:r>
              <a:rPr lang="en-US" sz="2000" dirty="0" err="1"/>
              <a:t>cái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quần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cha </a:t>
            </a:r>
            <a:r>
              <a:rPr lang="en-US" sz="2000" dirty="0" err="1"/>
              <a:t>mẹ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tiếp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thì</a:t>
            </a:r>
            <a:r>
              <a:rPr lang="en-US" sz="2000" dirty="0"/>
              <a:t> </a:t>
            </a:r>
            <a:r>
              <a:rPr lang="en-US" sz="2000" dirty="0" err="1"/>
              <a:t>cá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elite </a:t>
            </a:r>
            <a:r>
              <a:rPr lang="en-US" sz="2000" dirty="0" err="1"/>
              <a:t>này</a:t>
            </a:r>
            <a:r>
              <a:rPr lang="en-US" sz="2000" dirty="0"/>
              <a:t> </a:t>
            </a:r>
            <a:r>
              <a:rPr lang="en-US" sz="2000" dirty="0" err="1"/>
              <a:t>mất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err="1">
                <a:sym typeface="Wingdings" panose="05000000000000000000" pitchFamily="2" charset="2"/>
              </a:rPr>
              <a:t>Cần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cài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đặt</a:t>
            </a:r>
            <a:r>
              <a:rPr lang="en-US" sz="2000" dirty="0">
                <a:sym typeface="Wingdings" panose="05000000000000000000" pitchFamily="2" charset="2"/>
              </a:rPr>
              <a:t> elitism </a:t>
            </a:r>
            <a:r>
              <a:rPr lang="en-US" sz="2000" dirty="0" err="1">
                <a:sym typeface="Wingdings" panose="05000000000000000000" pitchFamily="2" charset="2"/>
              </a:rPr>
              <a:t>thế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nào</a:t>
            </a:r>
            <a:r>
              <a:rPr lang="en-US" sz="2000" dirty="0">
                <a:sym typeface="Wingdings" panose="05000000000000000000" pitchFamily="2" charset="2"/>
              </a:rPr>
              <a:t>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57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FDCC8148-BE40-DC47-10C9-86259481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>
            <a:extLst>
              <a:ext uri="{FF2B5EF4-FFF2-40B4-BE49-F238E27FC236}">
                <a16:creationId xmlns:a16="http://schemas.microsoft.com/office/drawing/2014/main" id="{FCA7B8A9-4365-C3B1-926A-C10FF2DA7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 dirty="0"/>
              <a:t>BẢN CÀI ĐẶT POPOP</a:t>
            </a:r>
            <a:endParaRPr dirty="0"/>
          </a:p>
        </p:txBody>
      </p:sp>
      <p:sp>
        <p:nvSpPr>
          <p:cNvPr id="364" name="Google Shape;364;p4">
            <a:extLst>
              <a:ext uri="{FF2B5EF4-FFF2-40B4-BE49-F238E27FC236}">
                <a16:creationId xmlns:a16="http://schemas.microsoft.com/office/drawing/2014/main" id="{A3BCE247-08EE-5B86-7295-F53F95D2BD4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POPOP IMPLEMENTATION OF GENETIC ALGORITHM</a:t>
            </a:r>
            <a:endParaRPr dirty="0"/>
          </a:p>
        </p:txBody>
      </p:sp>
      <p:sp>
        <p:nvSpPr>
          <p:cNvPr id="365" name="Google Shape;365;p4">
            <a:extLst>
              <a:ext uri="{FF2B5EF4-FFF2-40B4-BE49-F238E27FC236}">
                <a16:creationId xmlns:a16="http://schemas.microsoft.com/office/drawing/2014/main" id="{1B63E931-6153-BE4C-1E9D-56FC9C015BD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>
            <a:extLst>
              <a:ext uri="{FF2B5EF4-FFF2-40B4-BE49-F238E27FC236}">
                <a16:creationId xmlns:a16="http://schemas.microsoft.com/office/drawing/2014/main" id="{33584341-FED8-5CE4-37DA-E8379016ABE5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>
            <a:extLst>
              <a:ext uri="{FF2B5EF4-FFF2-40B4-BE49-F238E27FC236}">
                <a16:creationId xmlns:a16="http://schemas.microsoft.com/office/drawing/2014/main" id="{5F9C24FA-0E8E-7C45-8079-CF323D8404B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>
            <a:extLst>
              <a:ext uri="{FF2B5EF4-FFF2-40B4-BE49-F238E27FC236}">
                <a16:creationId xmlns:a16="http://schemas.microsoft.com/office/drawing/2014/main" id="{90B7372F-7BA6-F9B0-DD60-5337D390F0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2864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CFFACA20-D58F-C7A0-B036-920D6197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404F6DC0-0A78-469C-43E0-C58B9A9516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119" y="47161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POPOP</a:t>
            </a:r>
            <a:endParaRPr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C77F4312-2D2F-789F-3BCE-682E71BC4B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9FD79745-B30F-67A3-B70D-0F5D4CBB69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15</a:t>
            </a:fld>
            <a:endParaRPr/>
          </a:p>
        </p:txBody>
      </p:sp>
      <p:graphicFrame>
        <p:nvGraphicFramePr>
          <p:cNvPr id="372" name="Table 371">
            <a:extLst>
              <a:ext uri="{FF2B5EF4-FFF2-40B4-BE49-F238E27FC236}">
                <a16:creationId xmlns:a16="http://schemas.microsoft.com/office/drawing/2014/main" id="{686E23B7-927D-0DCB-CB0F-908064895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46213"/>
              </p:ext>
            </p:extLst>
          </p:nvPr>
        </p:nvGraphicFramePr>
        <p:xfrm>
          <a:off x="7598719" y="1877663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7" name="Table 376">
            <a:extLst>
              <a:ext uri="{FF2B5EF4-FFF2-40B4-BE49-F238E27FC236}">
                <a16:creationId xmlns:a16="http://schemas.microsoft.com/office/drawing/2014/main" id="{FF200719-4162-9192-5888-F80203292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00649"/>
              </p:ext>
            </p:extLst>
          </p:nvPr>
        </p:nvGraphicFramePr>
        <p:xfrm>
          <a:off x="5864233" y="1859408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8" name="Rounded Rectangle 10">
            <a:extLst>
              <a:ext uri="{FF2B5EF4-FFF2-40B4-BE49-F238E27FC236}">
                <a16:creationId xmlns:a16="http://schemas.microsoft.com/office/drawing/2014/main" id="{89E3E581-7FF4-EC68-59F0-29DA12CC8020}"/>
              </a:ext>
            </a:extLst>
          </p:cNvPr>
          <p:cNvSpPr/>
          <p:nvPr/>
        </p:nvSpPr>
        <p:spPr>
          <a:xfrm>
            <a:off x="3462037" y="2287481"/>
            <a:ext cx="1499544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379" name="Right Arrow 11">
            <a:extLst>
              <a:ext uri="{FF2B5EF4-FFF2-40B4-BE49-F238E27FC236}">
                <a16:creationId xmlns:a16="http://schemas.microsoft.com/office/drawing/2014/main" id="{F6CFB10E-D8B7-5625-F8B1-43E5474B34F5}"/>
              </a:ext>
            </a:extLst>
          </p:cNvPr>
          <p:cNvSpPr/>
          <p:nvPr/>
        </p:nvSpPr>
        <p:spPr>
          <a:xfrm>
            <a:off x="2833299" y="2508074"/>
            <a:ext cx="483576" cy="195478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0" name="Right Arrow 13">
            <a:extLst>
              <a:ext uri="{FF2B5EF4-FFF2-40B4-BE49-F238E27FC236}">
                <a16:creationId xmlns:a16="http://schemas.microsoft.com/office/drawing/2014/main" id="{7DC14933-3E8F-2F11-58EF-A53455B5275D}"/>
              </a:ext>
            </a:extLst>
          </p:cNvPr>
          <p:cNvSpPr/>
          <p:nvPr/>
        </p:nvSpPr>
        <p:spPr>
          <a:xfrm>
            <a:off x="5112405" y="2484522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1" name="Right Arrow 14">
            <a:extLst>
              <a:ext uri="{FF2B5EF4-FFF2-40B4-BE49-F238E27FC236}">
                <a16:creationId xmlns:a16="http://schemas.microsoft.com/office/drawing/2014/main" id="{D2B703B5-5258-558A-CCA5-A7722385E9F9}"/>
              </a:ext>
            </a:extLst>
          </p:cNvPr>
          <p:cNvSpPr/>
          <p:nvPr/>
        </p:nvSpPr>
        <p:spPr>
          <a:xfrm>
            <a:off x="6846891" y="2484522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441B7686-A261-985C-BE9C-C7FC5DC865D8}"/>
              </a:ext>
            </a:extLst>
          </p:cNvPr>
          <p:cNvSpPr txBox="1"/>
          <p:nvPr/>
        </p:nvSpPr>
        <p:spPr>
          <a:xfrm>
            <a:off x="1583288" y="1353275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Population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94832AEB-3619-F8A7-F96F-AF1EA686E0B6}"/>
              </a:ext>
            </a:extLst>
          </p:cNvPr>
          <p:cNvSpPr txBox="1"/>
          <p:nvPr/>
        </p:nvSpPr>
        <p:spPr>
          <a:xfrm>
            <a:off x="5595981" y="1370635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Offspring</a:t>
            </a:r>
          </a:p>
        </p:txBody>
      </p:sp>
      <p:sp>
        <p:nvSpPr>
          <p:cNvPr id="384" name="Curved Left Arrow 18">
            <a:extLst>
              <a:ext uri="{FF2B5EF4-FFF2-40B4-BE49-F238E27FC236}">
                <a16:creationId xmlns:a16="http://schemas.microsoft.com/office/drawing/2014/main" id="{E157EBE2-82A5-D480-91EF-78A513FD57B1}"/>
              </a:ext>
            </a:extLst>
          </p:cNvPr>
          <p:cNvSpPr/>
          <p:nvPr/>
        </p:nvSpPr>
        <p:spPr>
          <a:xfrm rot="5400000">
            <a:off x="5264395" y="742912"/>
            <a:ext cx="1311032" cy="8106379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73D81E75-C67C-4B6D-EEF9-7F3FF9C2C519}"/>
              </a:ext>
            </a:extLst>
          </p:cNvPr>
          <p:cNvSpPr txBox="1"/>
          <p:nvPr/>
        </p:nvSpPr>
        <p:spPr>
          <a:xfrm>
            <a:off x="5469088" y="4857268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86" name="Table 385">
            <a:extLst>
              <a:ext uri="{FF2B5EF4-FFF2-40B4-BE49-F238E27FC236}">
                <a16:creationId xmlns:a16="http://schemas.microsoft.com/office/drawing/2014/main" id="{7B577D84-1E03-4201-CB1F-4325157AF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162523"/>
              </p:ext>
            </p:extLst>
          </p:nvPr>
        </p:nvGraphicFramePr>
        <p:xfrm>
          <a:off x="1807555" y="1877663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7" name="Table 386">
            <a:extLst>
              <a:ext uri="{FF2B5EF4-FFF2-40B4-BE49-F238E27FC236}">
                <a16:creationId xmlns:a16="http://schemas.microsoft.com/office/drawing/2014/main" id="{9662DCEB-A80B-7456-1BBC-8AC472720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16100"/>
              </p:ext>
            </p:extLst>
          </p:nvPr>
        </p:nvGraphicFramePr>
        <p:xfrm>
          <a:off x="9461271" y="1849058"/>
          <a:ext cx="845810" cy="1483360"/>
        </p:xfrm>
        <a:graphic>
          <a:graphicData uri="http://schemas.openxmlformats.org/drawingml/2006/table">
            <a:tbl>
              <a:tblPr firstRow="1" bandRow="1"/>
              <a:tblGrid>
                <a:gridCol w="84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8" name="Right Arrow 23">
            <a:extLst>
              <a:ext uri="{FF2B5EF4-FFF2-40B4-BE49-F238E27FC236}">
                <a16:creationId xmlns:a16="http://schemas.microsoft.com/office/drawing/2014/main" id="{B6782120-AF2C-1B28-96FF-F6F88A551770}"/>
              </a:ext>
            </a:extLst>
          </p:cNvPr>
          <p:cNvSpPr/>
          <p:nvPr/>
        </p:nvSpPr>
        <p:spPr>
          <a:xfrm>
            <a:off x="8778813" y="2478971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C40AF6B6-1915-A719-11F6-2B4B5297C2B9}"/>
              </a:ext>
            </a:extLst>
          </p:cNvPr>
          <p:cNvSpPr txBox="1"/>
          <p:nvPr/>
        </p:nvSpPr>
        <p:spPr>
          <a:xfrm>
            <a:off x="8916501" y="654770"/>
            <a:ext cx="17424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Tournament </a:t>
            </a:r>
            <a:br>
              <a:rPr lang="en-US" sz="2400" kern="1200" dirty="0">
                <a:latin typeface="Albertus Medium"/>
                <a:ea typeface="+mn-ea"/>
                <a:cs typeface="+mn-cs"/>
              </a:rPr>
            </a:br>
            <a:r>
              <a:rPr lang="en-US" sz="2400" kern="1200" dirty="0">
                <a:latin typeface="Albertus Medium"/>
                <a:ea typeface="+mn-ea"/>
                <a:cs typeface="+mn-cs"/>
              </a:rPr>
              <a:t>Selection</a:t>
            </a:r>
          </a:p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Size 4</a:t>
            </a:r>
          </a:p>
          <a:p>
            <a:pPr algn="ctr">
              <a:buClrTx/>
              <a:buFontTx/>
              <a:buNone/>
            </a:pP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90" name="Table 389">
            <a:extLst>
              <a:ext uri="{FF2B5EF4-FFF2-40B4-BE49-F238E27FC236}">
                <a16:creationId xmlns:a16="http://schemas.microsoft.com/office/drawing/2014/main" id="{57928C8D-E3E8-46EE-1064-7C7986387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837820"/>
              </p:ext>
            </p:extLst>
          </p:nvPr>
        </p:nvGraphicFramePr>
        <p:xfrm>
          <a:off x="7598720" y="3361023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1" name="TextBox 390">
            <a:extLst>
              <a:ext uri="{FF2B5EF4-FFF2-40B4-BE49-F238E27FC236}">
                <a16:creationId xmlns:a16="http://schemas.microsoft.com/office/drawing/2014/main" id="{96ABBE93-B275-DA81-4530-0D3E42A3C0E1}"/>
              </a:ext>
            </a:extLst>
          </p:cNvPr>
          <p:cNvSpPr txBox="1"/>
          <p:nvPr/>
        </p:nvSpPr>
        <p:spPr>
          <a:xfrm>
            <a:off x="7330467" y="1361790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P+O Pool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2" name="Google Shape;374;p5">
            <a:extLst>
              <a:ext uri="{FF2B5EF4-FFF2-40B4-BE49-F238E27FC236}">
                <a16:creationId xmlns:a16="http://schemas.microsoft.com/office/drawing/2014/main" id="{0836CCA0-C485-88B4-390E-DF35A5BFC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4146" y="5792107"/>
            <a:ext cx="11154183" cy="52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77800" indent="0">
              <a:spcBef>
                <a:spcPts val="0"/>
              </a:spcBef>
              <a:buNone/>
            </a:pPr>
            <a:r>
              <a:rPr lang="en-US" sz="2400" dirty="0" err="1">
                <a:latin typeface="+mn-lt"/>
              </a:rPr>
              <a:t>Bản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cài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đặt</a:t>
            </a:r>
            <a:r>
              <a:rPr lang="en-US" sz="2400" dirty="0">
                <a:latin typeface="+mn-lt"/>
              </a:rPr>
              <a:t> P </a:t>
            </a:r>
            <a:r>
              <a:rPr lang="en-US" sz="2400" dirty="0">
                <a:latin typeface="+mn-lt"/>
                <a:sym typeface="Wingdings"/>
              </a:rPr>
              <a:t> O  (P+O)  P </a:t>
            </a:r>
            <a:r>
              <a:rPr lang="en-US" sz="2400" dirty="0" err="1">
                <a:latin typeface="+mn-lt"/>
                <a:sym typeface="Wingdings"/>
              </a:rPr>
              <a:t>có</a:t>
            </a:r>
            <a:r>
              <a:rPr lang="en-US" sz="2400" dirty="0">
                <a:latin typeface="+mn-lt"/>
                <a:sym typeface="Wingdings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  <a:sym typeface="Wingdings"/>
              </a:rPr>
              <a:t>ưu</a:t>
            </a:r>
            <a:r>
              <a:rPr lang="en-US" sz="2400" dirty="0">
                <a:solidFill>
                  <a:srgbClr val="FF0000"/>
                </a:solidFill>
                <a:latin typeface="+mn-lt"/>
                <a:sym typeface="Wingdings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  <a:sym typeface="Wingdings"/>
              </a:rPr>
              <a:t>điểm</a:t>
            </a:r>
            <a:r>
              <a:rPr lang="en-US" sz="2400" dirty="0">
                <a:solidFill>
                  <a:srgbClr val="FF0000"/>
                </a:solidFill>
                <a:latin typeface="+mn-lt"/>
                <a:sym typeface="Wingdings"/>
              </a:rPr>
              <a:t> </a:t>
            </a:r>
            <a:r>
              <a:rPr lang="en-US" sz="2400" dirty="0" err="1">
                <a:latin typeface="+mn-lt"/>
                <a:sym typeface="Wingdings"/>
              </a:rPr>
              <a:t>gì</a:t>
            </a:r>
            <a:r>
              <a:rPr lang="en-US" sz="2400" dirty="0">
                <a:latin typeface="+mn-lt"/>
                <a:sym typeface="Wingdings"/>
              </a:rPr>
              <a:t> so </a:t>
            </a:r>
            <a:r>
              <a:rPr lang="en-US" sz="2400" dirty="0" err="1">
                <a:latin typeface="+mn-lt"/>
                <a:sym typeface="Wingdings"/>
              </a:rPr>
              <a:t>với</a:t>
            </a:r>
            <a:r>
              <a:rPr lang="en-US" sz="2400" dirty="0">
                <a:latin typeface="+mn-lt"/>
                <a:sym typeface="Wingdings"/>
              </a:rPr>
              <a:t> </a:t>
            </a:r>
            <a:r>
              <a:rPr lang="en-US" sz="2400" dirty="0" err="1">
                <a:latin typeface="+mn-lt"/>
                <a:sym typeface="Wingdings"/>
              </a:rPr>
              <a:t>phiên</a:t>
            </a:r>
            <a:r>
              <a:rPr lang="en-US" sz="2400" dirty="0">
                <a:latin typeface="+mn-lt"/>
                <a:sym typeface="Wingdings"/>
              </a:rPr>
              <a:t> </a:t>
            </a:r>
            <a:r>
              <a:rPr lang="en-US" sz="2400" dirty="0" err="1">
                <a:latin typeface="+mn-lt"/>
                <a:sym typeface="Wingdings"/>
              </a:rPr>
              <a:t>bản</a:t>
            </a:r>
            <a:r>
              <a:rPr lang="en-US" sz="2400" dirty="0">
                <a:latin typeface="+mn-lt"/>
                <a:sym typeface="Wingdings"/>
              </a:rPr>
              <a:t> </a:t>
            </a:r>
            <a:r>
              <a:rPr lang="en-US" sz="2400" dirty="0" err="1">
                <a:latin typeface="+mn-lt"/>
                <a:sym typeface="Wingdings"/>
              </a:rPr>
              <a:t>tiêu</a:t>
            </a:r>
            <a:r>
              <a:rPr lang="en-US" sz="2400" dirty="0">
                <a:latin typeface="+mn-lt"/>
                <a:sym typeface="Wingdings"/>
              </a:rPr>
              <a:t> </a:t>
            </a:r>
            <a:r>
              <a:rPr lang="en-US" sz="2400" dirty="0" err="1">
                <a:latin typeface="+mn-lt"/>
                <a:sym typeface="Wingdings"/>
              </a:rPr>
              <a:t>chuẩn</a:t>
            </a:r>
            <a:r>
              <a:rPr lang="en-US" sz="2400" dirty="0">
                <a:latin typeface="+mn-lt"/>
                <a:sym typeface="Wingdings"/>
              </a:rPr>
              <a:t>?</a:t>
            </a:r>
          </a:p>
          <a:p>
            <a:pPr marL="177800" indent="0">
              <a:spcBef>
                <a:spcPts val="0"/>
              </a:spcBef>
              <a:buNone/>
            </a:pPr>
            <a:endParaRPr lang="en-US" sz="2400" dirty="0">
              <a:latin typeface="+mn-lt"/>
            </a:endParaRPr>
          </a:p>
          <a:p>
            <a:pPr marL="177800" indent="0">
              <a:spcBef>
                <a:spcPts val="0"/>
              </a:spcBef>
              <a:buNone/>
            </a:pP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389392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82181BEB-4E96-8D84-9C3A-0948E5F4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3EB12CBD-9837-9B12-DC39-5A04A5A18C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119" y="47161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POPOP</a:t>
            </a:r>
            <a:endParaRPr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0E905A39-8B86-128B-4548-675855172C1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41EFA1F7-7F93-4A8C-058A-37232F477D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16</a:t>
            </a:fld>
            <a:endParaRPr/>
          </a:p>
        </p:txBody>
      </p:sp>
      <p:graphicFrame>
        <p:nvGraphicFramePr>
          <p:cNvPr id="372" name="Table 371">
            <a:extLst>
              <a:ext uri="{FF2B5EF4-FFF2-40B4-BE49-F238E27FC236}">
                <a16:creationId xmlns:a16="http://schemas.microsoft.com/office/drawing/2014/main" id="{5752D48A-9B78-9BCE-7CEF-77BF02965D2C}"/>
              </a:ext>
            </a:extLst>
          </p:cNvPr>
          <p:cNvGraphicFramePr>
            <a:graphicFrameLocks noGrp="1"/>
          </p:cNvGraphicFramePr>
          <p:nvPr/>
        </p:nvGraphicFramePr>
        <p:xfrm>
          <a:off x="7598719" y="1877663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7" name="Table 376">
            <a:extLst>
              <a:ext uri="{FF2B5EF4-FFF2-40B4-BE49-F238E27FC236}">
                <a16:creationId xmlns:a16="http://schemas.microsoft.com/office/drawing/2014/main" id="{35F61EC4-3A4E-AEBB-A1AE-97CE06447D30}"/>
              </a:ext>
            </a:extLst>
          </p:cNvPr>
          <p:cNvGraphicFramePr>
            <a:graphicFrameLocks noGrp="1"/>
          </p:cNvGraphicFramePr>
          <p:nvPr/>
        </p:nvGraphicFramePr>
        <p:xfrm>
          <a:off x="5864233" y="1859408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8" name="Rounded Rectangle 10">
            <a:extLst>
              <a:ext uri="{FF2B5EF4-FFF2-40B4-BE49-F238E27FC236}">
                <a16:creationId xmlns:a16="http://schemas.microsoft.com/office/drawing/2014/main" id="{566AA0CF-50AB-3BD5-DA0E-9D08E41D9709}"/>
              </a:ext>
            </a:extLst>
          </p:cNvPr>
          <p:cNvSpPr/>
          <p:nvPr/>
        </p:nvSpPr>
        <p:spPr>
          <a:xfrm>
            <a:off x="3462037" y="2287481"/>
            <a:ext cx="1499544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379" name="Right Arrow 11">
            <a:extLst>
              <a:ext uri="{FF2B5EF4-FFF2-40B4-BE49-F238E27FC236}">
                <a16:creationId xmlns:a16="http://schemas.microsoft.com/office/drawing/2014/main" id="{C3A062B5-5E0E-7A0E-9373-3D66A10A6B68}"/>
              </a:ext>
            </a:extLst>
          </p:cNvPr>
          <p:cNvSpPr/>
          <p:nvPr/>
        </p:nvSpPr>
        <p:spPr>
          <a:xfrm>
            <a:off x="2833299" y="2508074"/>
            <a:ext cx="483576" cy="195478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0" name="Right Arrow 13">
            <a:extLst>
              <a:ext uri="{FF2B5EF4-FFF2-40B4-BE49-F238E27FC236}">
                <a16:creationId xmlns:a16="http://schemas.microsoft.com/office/drawing/2014/main" id="{D0827B48-DE7F-FE89-EA57-0C7DAFE36F5A}"/>
              </a:ext>
            </a:extLst>
          </p:cNvPr>
          <p:cNvSpPr/>
          <p:nvPr/>
        </p:nvSpPr>
        <p:spPr>
          <a:xfrm>
            <a:off x="5112405" y="2484522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1" name="Right Arrow 14">
            <a:extLst>
              <a:ext uri="{FF2B5EF4-FFF2-40B4-BE49-F238E27FC236}">
                <a16:creationId xmlns:a16="http://schemas.microsoft.com/office/drawing/2014/main" id="{A033DD98-8DA6-958E-729C-E18EC0B8C872}"/>
              </a:ext>
            </a:extLst>
          </p:cNvPr>
          <p:cNvSpPr/>
          <p:nvPr/>
        </p:nvSpPr>
        <p:spPr>
          <a:xfrm>
            <a:off x="6846891" y="2484522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7FC47CC2-B0A9-6C15-9439-CB5BC2EEEE9E}"/>
              </a:ext>
            </a:extLst>
          </p:cNvPr>
          <p:cNvSpPr txBox="1"/>
          <p:nvPr/>
        </p:nvSpPr>
        <p:spPr>
          <a:xfrm>
            <a:off x="1583288" y="1353275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Population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B2F782DD-2DED-588F-BDC3-01DE0BB1EDB8}"/>
              </a:ext>
            </a:extLst>
          </p:cNvPr>
          <p:cNvSpPr txBox="1"/>
          <p:nvPr/>
        </p:nvSpPr>
        <p:spPr>
          <a:xfrm>
            <a:off x="5595981" y="1370635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Offspring</a:t>
            </a:r>
          </a:p>
        </p:txBody>
      </p:sp>
      <p:sp>
        <p:nvSpPr>
          <p:cNvPr id="384" name="Curved Left Arrow 18">
            <a:extLst>
              <a:ext uri="{FF2B5EF4-FFF2-40B4-BE49-F238E27FC236}">
                <a16:creationId xmlns:a16="http://schemas.microsoft.com/office/drawing/2014/main" id="{155C4B94-1200-C487-4B90-8A2F0938D305}"/>
              </a:ext>
            </a:extLst>
          </p:cNvPr>
          <p:cNvSpPr/>
          <p:nvPr/>
        </p:nvSpPr>
        <p:spPr>
          <a:xfrm rot="5400000">
            <a:off x="5264395" y="742912"/>
            <a:ext cx="1311032" cy="8106379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33E489B-E821-7FA5-BCEE-1B864CF29A28}"/>
              </a:ext>
            </a:extLst>
          </p:cNvPr>
          <p:cNvSpPr txBox="1"/>
          <p:nvPr/>
        </p:nvSpPr>
        <p:spPr>
          <a:xfrm>
            <a:off x="5469088" y="4857268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86" name="Table 385">
            <a:extLst>
              <a:ext uri="{FF2B5EF4-FFF2-40B4-BE49-F238E27FC236}">
                <a16:creationId xmlns:a16="http://schemas.microsoft.com/office/drawing/2014/main" id="{C0A542F0-928E-4DCF-D1CB-D6267FB85B26}"/>
              </a:ext>
            </a:extLst>
          </p:cNvPr>
          <p:cNvGraphicFramePr>
            <a:graphicFrameLocks noGrp="1"/>
          </p:cNvGraphicFramePr>
          <p:nvPr/>
        </p:nvGraphicFramePr>
        <p:xfrm>
          <a:off x="1807555" y="1877663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7" name="Table 386">
            <a:extLst>
              <a:ext uri="{FF2B5EF4-FFF2-40B4-BE49-F238E27FC236}">
                <a16:creationId xmlns:a16="http://schemas.microsoft.com/office/drawing/2014/main" id="{DB966374-AC4D-C2DA-5F65-DE1157A4DDD8}"/>
              </a:ext>
            </a:extLst>
          </p:cNvPr>
          <p:cNvGraphicFramePr>
            <a:graphicFrameLocks noGrp="1"/>
          </p:cNvGraphicFramePr>
          <p:nvPr/>
        </p:nvGraphicFramePr>
        <p:xfrm>
          <a:off x="9461271" y="1849058"/>
          <a:ext cx="845810" cy="1483360"/>
        </p:xfrm>
        <a:graphic>
          <a:graphicData uri="http://schemas.openxmlformats.org/drawingml/2006/table">
            <a:tbl>
              <a:tblPr firstRow="1" bandRow="1"/>
              <a:tblGrid>
                <a:gridCol w="84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8" name="Right Arrow 23">
            <a:extLst>
              <a:ext uri="{FF2B5EF4-FFF2-40B4-BE49-F238E27FC236}">
                <a16:creationId xmlns:a16="http://schemas.microsoft.com/office/drawing/2014/main" id="{B0B39BD3-067D-A898-22C8-E05196338495}"/>
              </a:ext>
            </a:extLst>
          </p:cNvPr>
          <p:cNvSpPr/>
          <p:nvPr/>
        </p:nvSpPr>
        <p:spPr>
          <a:xfrm>
            <a:off x="8778813" y="2478971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D43FE870-767C-B8C5-E2DA-C5583D74F2E0}"/>
              </a:ext>
            </a:extLst>
          </p:cNvPr>
          <p:cNvSpPr txBox="1"/>
          <p:nvPr/>
        </p:nvSpPr>
        <p:spPr>
          <a:xfrm>
            <a:off x="8916501" y="654770"/>
            <a:ext cx="17424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Tournament </a:t>
            </a:r>
            <a:br>
              <a:rPr lang="en-US" sz="2400" kern="1200" dirty="0">
                <a:latin typeface="Albertus Medium"/>
                <a:ea typeface="+mn-ea"/>
                <a:cs typeface="+mn-cs"/>
              </a:rPr>
            </a:br>
            <a:r>
              <a:rPr lang="en-US" sz="2400" kern="1200" dirty="0">
                <a:latin typeface="Albertus Medium"/>
                <a:ea typeface="+mn-ea"/>
                <a:cs typeface="+mn-cs"/>
              </a:rPr>
              <a:t>Selection</a:t>
            </a:r>
          </a:p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Size 4</a:t>
            </a:r>
          </a:p>
          <a:p>
            <a:pPr algn="ctr">
              <a:buClrTx/>
              <a:buFontTx/>
              <a:buNone/>
            </a:pP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90" name="Table 389">
            <a:extLst>
              <a:ext uri="{FF2B5EF4-FFF2-40B4-BE49-F238E27FC236}">
                <a16:creationId xmlns:a16="http://schemas.microsoft.com/office/drawing/2014/main" id="{9603752E-D1F7-E0F9-21BB-7F4937175085}"/>
              </a:ext>
            </a:extLst>
          </p:cNvPr>
          <p:cNvGraphicFramePr>
            <a:graphicFrameLocks noGrp="1"/>
          </p:cNvGraphicFramePr>
          <p:nvPr/>
        </p:nvGraphicFramePr>
        <p:xfrm>
          <a:off x="7598720" y="3361023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1" name="TextBox 390">
            <a:extLst>
              <a:ext uri="{FF2B5EF4-FFF2-40B4-BE49-F238E27FC236}">
                <a16:creationId xmlns:a16="http://schemas.microsoft.com/office/drawing/2014/main" id="{1A1877F6-6D66-20BF-ADBB-0F3241C49C34}"/>
              </a:ext>
            </a:extLst>
          </p:cNvPr>
          <p:cNvSpPr txBox="1"/>
          <p:nvPr/>
        </p:nvSpPr>
        <p:spPr>
          <a:xfrm>
            <a:off x="7330467" y="1361790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P+O Pool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2" name="Google Shape;374;p5">
            <a:extLst>
              <a:ext uri="{FF2B5EF4-FFF2-40B4-BE49-F238E27FC236}">
                <a16:creationId xmlns:a16="http://schemas.microsoft.com/office/drawing/2014/main" id="{F60352A0-7B95-8C1A-FE02-F4654A6E5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4146" y="5792107"/>
            <a:ext cx="11154183" cy="52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77800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FF0000"/>
                </a:solidFill>
                <a:latin typeface="+mn-lt"/>
              </a:rPr>
              <a:t>Cá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thể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elite </a:t>
            </a:r>
            <a:r>
              <a:rPr lang="en-US" sz="2400" dirty="0" err="1">
                <a:latin typeface="+mn-lt"/>
              </a:rPr>
              <a:t>của</a:t>
            </a:r>
            <a:r>
              <a:rPr lang="en-US" sz="2400" dirty="0">
                <a:latin typeface="+mn-lt"/>
              </a:rPr>
              <a:t> (P+O) Pool </a:t>
            </a:r>
            <a:r>
              <a:rPr lang="en-US" sz="2400" dirty="0" err="1">
                <a:latin typeface="+mn-lt"/>
              </a:rPr>
              <a:t>luôn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được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lựa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chọn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FF0000"/>
                </a:solidFill>
                <a:latin typeface="+mn-lt"/>
                <a:sym typeface="Wingdings" panose="05000000000000000000" pitchFamily="2" charset="2"/>
              </a:rPr>
              <a:t>elitism</a:t>
            </a:r>
            <a:r>
              <a:rPr lang="en-US" sz="2400" dirty="0">
                <a:latin typeface="+mn-lt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+mn-lt"/>
                <a:sym typeface="Wingdings" panose="05000000000000000000" pitchFamily="2" charset="2"/>
              </a:rPr>
              <a:t>được</a:t>
            </a:r>
            <a:r>
              <a:rPr lang="en-US" sz="2400" dirty="0">
                <a:latin typeface="+mn-lt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+mn-lt"/>
                <a:sym typeface="Wingdings" panose="05000000000000000000" pitchFamily="2" charset="2"/>
              </a:rPr>
              <a:t>đảm</a:t>
            </a:r>
            <a:r>
              <a:rPr lang="en-US" sz="2400" dirty="0">
                <a:latin typeface="+mn-lt"/>
                <a:sym typeface="Wingdings" panose="05000000000000000000" pitchFamily="2" charset="2"/>
              </a:rPr>
              <a:t> </a:t>
            </a:r>
            <a:r>
              <a:rPr lang="en-US" sz="2400" dirty="0" err="1">
                <a:latin typeface="+mn-lt"/>
                <a:sym typeface="Wingdings" panose="05000000000000000000" pitchFamily="2" charset="2"/>
              </a:rPr>
              <a:t>bảo</a:t>
            </a:r>
            <a:r>
              <a:rPr lang="en-US" sz="2400" dirty="0">
                <a:latin typeface="+mn-lt"/>
                <a:sym typeface="Wingdings" panose="05000000000000000000" pitchFamily="2" charset="2"/>
              </a:rPr>
              <a:t>.</a:t>
            </a:r>
            <a:endParaRPr lang="en-US" sz="2400" dirty="0">
              <a:latin typeface="+mn-lt"/>
              <a:sym typeface="Wingdings"/>
            </a:endParaRPr>
          </a:p>
          <a:p>
            <a:pPr marL="177800" indent="0">
              <a:spcBef>
                <a:spcPts val="0"/>
              </a:spcBef>
              <a:buNone/>
            </a:pPr>
            <a:endParaRPr lang="en-US" sz="2400" dirty="0">
              <a:latin typeface="+mn-lt"/>
            </a:endParaRPr>
          </a:p>
          <a:p>
            <a:pPr marL="177800" indent="0">
              <a:spcBef>
                <a:spcPts val="0"/>
              </a:spcBef>
              <a:buNone/>
            </a:pP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3313924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4124A005-71F7-4181-A643-FD3394E5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22936601-A362-6532-EDBB-B4A39A507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119" y="47161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POPOP</a:t>
            </a:r>
            <a:endParaRPr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E82FE2C2-D555-EC50-7D9D-BF05F5B869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1038049B-D867-D9C3-ACD9-80B016AFA1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17</a:t>
            </a:fld>
            <a:endParaRPr/>
          </a:p>
        </p:txBody>
      </p:sp>
      <p:graphicFrame>
        <p:nvGraphicFramePr>
          <p:cNvPr id="372" name="Table 371">
            <a:extLst>
              <a:ext uri="{FF2B5EF4-FFF2-40B4-BE49-F238E27FC236}">
                <a16:creationId xmlns:a16="http://schemas.microsoft.com/office/drawing/2014/main" id="{5E38FB5E-D512-F633-4ED0-D8C2361ACE0D}"/>
              </a:ext>
            </a:extLst>
          </p:cNvPr>
          <p:cNvGraphicFramePr>
            <a:graphicFrameLocks noGrp="1"/>
          </p:cNvGraphicFramePr>
          <p:nvPr/>
        </p:nvGraphicFramePr>
        <p:xfrm>
          <a:off x="7598719" y="1877663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7" name="Table 376">
            <a:extLst>
              <a:ext uri="{FF2B5EF4-FFF2-40B4-BE49-F238E27FC236}">
                <a16:creationId xmlns:a16="http://schemas.microsoft.com/office/drawing/2014/main" id="{A83C19C8-DBF5-24EB-B63F-D78429F557AA}"/>
              </a:ext>
            </a:extLst>
          </p:cNvPr>
          <p:cNvGraphicFramePr>
            <a:graphicFrameLocks noGrp="1"/>
          </p:cNvGraphicFramePr>
          <p:nvPr/>
        </p:nvGraphicFramePr>
        <p:xfrm>
          <a:off x="5864233" y="1859408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8" name="Rounded Rectangle 10">
            <a:extLst>
              <a:ext uri="{FF2B5EF4-FFF2-40B4-BE49-F238E27FC236}">
                <a16:creationId xmlns:a16="http://schemas.microsoft.com/office/drawing/2014/main" id="{3ABBAC45-1B40-7D8B-E39F-32E8C13EB5D7}"/>
              </a:ext>
            </a:extLst>
          </p:cNvPr>
          <p:cNvSpPr/>
          <p:nvPr/>
        </p:nvSpPr>
        <p:spPr>
          <a:xfrm>
            <a:off x="3462037" y="2287481"/>
            <a:ext cx="1499544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379" name="Right Arrow 11">
            <a:extLst>
              <a:ext uri="{FF2B5EF4-FFF2-40B4-BE49-F238E27FC236}">
                <a16:creationId xmlns:a16="http://schemas.microsoft.com/office/drawing/2014/main" id="{38736550-9A1F-1757-2E8F-49F2DA632482}"/>
              </a:ext>
            </a:extLst>
          </p:cNvPr>
          <p:cNvSpPr/>
          <p:nvPr/>
        </p:nvSpPr>
        <p:spPr>
          <a:xfrm>
            <a:off x="2833299" y="2508074"/>
            <a:ext cx="483576" cy="195478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0" name="Right Arrow 13">
            <a:extLst>
              <a:ext uri="{FF2B5EF4-FFF2-40B4-BE49-F238E27FC236}">
                <a16:creationId xmlns:a16="http://schemas.microsoft.com/office/drawing/2014/main" id="{EEA120F0-8D6A-6546-DDC9-2AC9F9B85B40}"/>
              </a:ext>
            </a:extLst>
          </p:cNvPr>
          <p:cNvSpPr/>
          <p:nvPr/>
        </p:nvSpPr>
        <p:spPr>
          <a:xfrm>
            <a:off x="5112405" y="2484522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1" name="Right Arrow 14">
            <a:extLst>
              <a:ext uri="{FF2B5EF4-FFF2-40B4-BE49-F238E27FC236}">
                <a16:creationId xmlns:a16="http://schemas.microsoft.com/office/drawing/2014/main" id="{A4B57749-B0A7-C83B-363E-8AE8F25BC338}"/>
              </a:ext>
            </a:extLst>
          </p:cNvPr>
          <p:cNvSpPr/>
          <p:nvPr/>
        </p:nvSpPr>
        <p:spPr>
          <a:xfrm>
            <a:off x="6846891" y="2484522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401EFB79-AEA8-DBBD-410C-CD839AF4F14B}"/>
              </a:ext>
            </a:extLst>
          </p:cNvPr>
          <p:cNvSpPr txBox="1"/>
          <p:nvPr/>
        </p:nvSpPr>
        <p:spPr>
          <a:xfrm>
            <a:off x="1583288" y="1353275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Population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24730542-A8B8-07E0-B82A-49840CC9F209}"/>
              </a:ext>
            </a:extLst>
          </p:cNvPr>
          <p:cNvSpPr txBox="1"/>
          <p:nvPr/>
        </p:nvSpPr>
        <p:spPr>
          <a:xfrm>
            <a:off x="5595981" y="1370635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Offspring</a:t>
            </a:r>
          </a:p>
        </p:txBody>
      </p:sp>
      <p:sp>
        <p:nvSpPr>
          <p:cNvPr id="384" name="Curved Left Arrow 18">
            <a:extLst>
              <a:ext uri="{FF2B5EF4-FFF2-40B4-BE49-F238E27FC236}">
                <a16:creationId xmlns:a16="http://schemas.microsoft.com/office/drawing/2014/main" id="{C4FF0033-1E0D-087F-CA13-3ADE62A0D744}"/>
              </a:ext>
            </a:extLst>
          </p:cNvPr>
          <p:cNvSpPr/>
          <p:nvPr/>
        </p:nvSpPr>
        <p:spPr>
          <a:xfrm rot="5400000">
            <a:off x="5264395" y="742912"/>
            <a:ext cx="1311032" cy="8106379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597867B-C064-6DDC-BB30-C0565CEE892C}"/>
              </a:ext>
            </a:extLst>
          </p:cNvPr>
          <p:cNvSpPr txBox="1"/>
          <p:nvPr/>
        </p:nvSpPr>
        <p:spPr>
          <a:xfrm>
            <a:off x="5469088" y="4857268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86" name="Table 385">
            <a:extLst>
              <a:ext uri="{FF2B5EF4-FFF2-40B4-BE49-F238E27FC236}">
                <a16:creationId xmlns:a16="http://schemas.microsoft.com/office/drawing/2014/main" id="{0D7168FE-70CD-A6AC-2A43-78C999939C24}"/>
              </a:ext>
            </a:extLst>
          </p:cNvPr>
          <p:cNvGraphicFramePr>
            <a:graphicFrameLocks noGrp="1"/>
          </p:cNvGraphicFramePr>
          <p:nvPr/>
        </p:nvGraphicFramePr>
        <p:xfrm>
          <a:off x="1807555" y="1877663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7" name="Table 386">
            <a:extLst>
              <a:ext uri="{FF2B5EF4-FFF2-40B4-BE49-F238E27FC236}">
                <a16:creationId xmlns:a16="http://schemas.microsoft.com/office/drawing/2014/main" id="{66947FF9-565F-075E-7011-AA135313A64E}"/>
              </a:ext>
            </a:extLst>
          </p:cNvPr>
          <p:cNvGraphicFramePr>
            <a:graphicFrameLocks noGrp="1"/>
          </p:cNvGraphicFramePr>
          <p:nvPr/>
        </p:nvGraphicFramePr>
        <p:xfrm>
          <a:off x="9461271" y="1849058"/>
          <a:ext cx="845810" cy="1483360"/>
        </p:xfrm>
        <a:graphic>
          <a:graphicData uri="http://schemas.openxmlformats.org/drawingml/2006/table">
            <a:tbl>
              <a:tblPr firstRow="1" bandRow="1"/>
              <a:tblGrid>
                <a:gridCol w="84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8" name="Right Arrow 23">
            <a:extLst>
              <a:ext uri="{FF2B5EF4-FFF2-40B4-BE49-F238E27FC236}">
                <a16:creationId xmlns:a16="http://schemas.microsoft.com/office/drawing/2014/main" id="{28E26024-86F2-E506-4323-B4719EE46740}"/>
              </a:ext>
            </a:extLst>
          </p:cNvPr>
          <p:cNvSpPr/>
          <p:nvPr/>
        </p:nvSpPr>
        <p:spPr>
          <a:xfrm>
            <a:off x="8778813" y="2478971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72E0EAF3-6961-CBC3-7128-AC5914F00981}"/>
              </a:ext>
            </a:extLst>
          </p:cNvPr>
          <p:cNvSpPr txBox="1"/>
          <p:nvPr/>
        </p:nvSpPr>
        <p:spPr>
          <a:xfrm>
            <a:off x="8916501" y="654770"/>
            <a:ext cx="17424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Tournament </a:t>
            </a:r>
            <a:br>
              <a:rPr lang="en-US" sz="2400" kern="1200" dirty="0">
                <a:latin typeface="Albertus Medium"/>
                <a:ea typeface="+mn-ea"/>
                <a:cs typeface="+mn-cs"/>
              </a:rPr>
            </a:br>
            <a:r>
              <a:rPr lang="en-US" sz="2400" kern="1200" dirty="0">
                <a:latin typeface="Albertus Medium"/>
                <a:ea typeface="+mn-ea"/>
                <a:cs typeface="+mn-cs"/>
              </a:rPr>
              <a:t>Selection</a:t>
            </a:r>
          </a:p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Size 4</a:t>
            </a:r>
          </a:p>
          <a:p>
            <a:pPr algn="ctr">
              <a:buClrTx/>
              <a:buFontTx/>
              <a:buNone/>
            </a:pP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90" name="Table 389">
            <a:extLst>
              <a:ext uri="{FF2B5EF4-FFF2-40B4-BE49-F238E27FC236}">
                <a16:creationId xmlns:a16="http://schemas.microsoft.com/office/drawing/2014/main" id="{8E4BA4B2-0753-9F70-AC4C-9FF568304B07}"/>
              </a:ext>
            </a:extLst>
          </p:cNvPr>
          <p:cNvGraphicFramePr>
            <a:graphicFrameLocks noGrp="1"/>
          </p:cNvGraphicFramePr>
          <p:nvPr/>
        </p:nvGraphicFramePr>
        <p:xfrm>
          <a:off x="7598720" y="3361023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1" name="TextBox 390">
            <a:extLst>
              <a:ext uri="{FF2B5EF4-FFF2-40B4-BE49-F238E27FC236}">
                <a16:creationId xmlns:a16="http://schemas.microsoft.com/office/drawing/2014/main" id="{6A62233C-CBA5-D36D-4EFE-B9864459CAA1}"/>
              </a:ext>
            </a:extLst>
          </p:cNvPr>
          <p:cNvSpPr txBox="1"/>
          <p:nvPr/>
        </p:nvSpPr>
        <p:spPr>
          <a:xfrm>
            <a:off x="7330467" y="1361790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P+O Pool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sp>
        <p:nvSpPr>
          <p:cNvPr id="2" name="Google Shape;374;p5">
            <a:extLst>
              <a:ext uri="{FF2B5EF4-FFF2-40B4-BE49-F238E27FC236}">
                <a16:creationId xmlns:a16="http://schemas.microsoft.com/office/drawing/2014/main" id="{635B6772-DB32-9F67-46CE-1016817FE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4146" y="5792107"/>
            <a:ext cx="11154183" cy="52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77800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FF0000"/>
                </a:solidFill>
                <a:latin typeface="+mn-lt"/>
              </a:rPr>
              <a:t>Cá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thể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elite </a:t>
            </a:r>
            <a:r>
              <a:rPr lang="en-US" sz="2400" dirty="0" err="1">
                <a:latin typeface="+mn-lt"/>
              </a:rPr>
              <a:t>của</a:t>
            </a:r>
            <a:r>
              <a:rPr lang="en-US" sz="2400" dirty="0">
                <a:latin typeface="+mn-lt"/>
              </a:rPr>
              <a:t> (P+O) Pool </a:t>
            </a:r>
            <a:r>
              <a:rPr lang="en-US" sz="2400" dirty="0" err="1">
                <a:latin typeface="+mn-lt"/>
              </a:rPr>
              <a:t>luôn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được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sao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chép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2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lần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>
                <a:latin typeface="+mn-lt"/>
              </a:rPr>
              <a:t>sang </a:t>
            </a:r>
            <a:r>
              <a:rPr lang="en-US" sz="2400" dirty="0" err="1">
                <a:latin typeface="+mn-lt"/>
              </a:rPr>
              <a:t>thế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hệ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tiếp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theo.</a:t>
            </a:r>
            <a:endParaRPr lang="en-US" sz="2400" dirty="0">
              <a:latin typeface="+mn-lt"/>
            </a:endParaRPr>
          </a:p>
          <a:p>
            <a:pPr marL="177800" indent="0">
              <a:spcBef>
                <a:spcPts val="0"/>
              </a:spcBef>
              <a:buNone/>
            </a:pP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72616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014729B-D436-3ABF-28E3-1C3A3F17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C79C98D4-0620-502C-719A-EEE74369B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119" y="47161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POPOP</a:t>
            </a:r>
            <a:endParaRPr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2E6DBFC9-132D-305D-2878-2616C003F0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097E601C-F431-26ED-3E3E-2FC71E165F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18</a:t>
            </a:fld>
            <a:endParaRPr/>
          </a:p>
        </p:txBody>
      </p:sp>
      <p:graphicFrame>
        <p:nvGraphicFramePr>
          <p:cNvPr id="372" name="Table 371">
            <a:extLst>
              <a:ext uri="{FF2B5EF4-FFF2-40B4-BE49-F238E27FC236}">
                <a16:creationId xmlns:a16="http://schemas.microsoft.com/office/drawing/2014/main" id="{980FF3DF-8292-9C24-3591-A93FC61D3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829756"/>
              </p:ext>
            </p:extLst>
          </p:nvPr>
        </p:nvGraphicFramePr>
        <p:xfrm>
          <a:off x="7598719" y="1823071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7" name="Table 376">
            <a:extLst>
              <a:ext uri="{FF2B5EF4-FFF2-40B4-BE49-F238E27FC236}">
                <a16:creationId xmlns:a16="http://schemas.microsoft.com/office/drawing/2014/main" id="{2199F2C5-ADE2-D922-39FC-AD3F31A36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06110"/>
              </p:ext>
            </p:extLst>
          </p:nvPr>
        </p:nvGraphicFramePr>
        <p:xfrm>
          <a:off x="5864233" y="1804816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8" name="Rounded Rectangle 10">
            <a:extLst>
              <a:ext uri="{FF2B5EF4-FFF2-40B4-BE49-F238E27FC236}">
                <a16:creationId xmlns:a16="http://schemas.microsoft.com/office/drawing/2014/main" id="{D2896C90-CF62-BAE2-5C22-A1D00AF226E0}"/>
              </a:ext>
            </a:extLst>
          </p:cNvPr>
          <p:cNvSpPr/>
          <p:nvPr/>
        </p:nvSpPr>
        <p:spPr>
          <a:xfrm>
            <a:off x="3462037" y="2232889"/>
            <a:ext cx="1499544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379" name="Right Arrow 11">
            <a:extLst>
              <a:ext uri="{FF2B5EF4-FFF2-40B4-BE49-F238E27FC236}">
                <a16:creationId xmlns:a16="http://schemas.microsoft.com/office/drawing/2014/main" id="{1433F5BC-9639-1E08-5199-018D936D8283}"/>
              </a:ext>
            </a:extLst>
          </p:cNvPr>
          <p:cNvSpPr/>
          <p:nvPr/>
        </p:nvSpPr>
        <p:spPr>
          <a:xfrm>
            <a:off x="2833299" y="2453482"/>
            <a:ext cx="483576" cy="195478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0" name="Right Arrow 13">
            <a:extLst>
              <a:ext uri="{FF2B5EF4-FFF2-40B4-BE49-F238E27FC236}">
                <a16:creationId xmlns:a16="http://schemas.microsoft.com/office/drawing/2014/main" id="{ECFC8A0A-C071-2D82-B3F2-41E1A26842DE}"/>
              </a:ext>
            </a:extLst>
          </p:cNvPr>
          <p:cNvSpPr/>
          <p:nvPr/>
        </p:nvSpPr>
        <p:spPr>
          <a:xfrm>
            <a:off x="5112405" y="2429930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1" name="Right Arrow 14">
            <a:extLst>
              <a:ext uri="{FF2B5EF4-FFF2-40B4-BE49-F238E27FC236}">
                <a16:creationId xmlns:a16="http://schemas.microsoft.com/office/drawing/2014/main" id="{B6481892-DE17-7FB3-2467-5ECB642502DF}"/>
              </a:ext>
            </a:extLst>
          </p:cNvPr>
          <p:cNvSpPr/>
          <p:nvPr/>
        </p:nvSpPr>
        <p:spPr>
          <a:xfrm>
            <a:off x="6846891" y="2429930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2352D63A-3615-35FA-3CDE-6DDB96F91E5B}"/>
              </a:ext>
            </a:extLst>
          </p:cNvPr>
          <p:cNvSpPr txBox="1"/>
          <p:nvPr/>
        </p:nvSpPr>
        <p:spPr>
          <a:xfrm>
            <a:off x="1583288" y="1298683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Population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94426688-C566-109D-ECBF-D993C318004A}"/>
              </a:ext>
            </a:extLst>
          </p:cNvPr>
          <p:cNvSpPr txBox="1"/>
          <p:nvPr/>
        </p:nvSpPr>
        <p:spPr>
          <a:xfrm>
            <a:off x="5595981" y="1316043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Offspring</a:t>
            </a:r>
          </a:p>
        </p:txBody>
      </p:sp>
      <p:sp>
        <p:nvSpPr>
          <p:cNvPr id="384" name="Curved Left Arrow 18">
            <a:extLst>
              <a:ext uri="{FF2B5EF4-FFF2-40B4-BE49-F238E27FC236}">
                <a16:creationId xmlns:a16="http://schemas.microsoft.com/office/drawing/2014/main" id="{90E2B46D-AB86-AEE4-B63F-30811DA3AC6C}"/>
              </a:ext>
            </a:extLst>
          </p:cNvPr>
          <p:cNvSpPr/>
          <p:nvPr/>
        </p:nvSpPr>
        <p:spPr>
          <a:xfrm rot="5400000">
            <a:off x="5264395" y="688320"/>
            <a:ext cx="1311032" cy="8106379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085C177-7B64-8D0A-574A-A7DDA6B66E5F}"/>
              </a:ext>
            </a:extLst>
          </p:cNvPr>
          <p:cNvSpPr txBox="1"/>
          <p:nvPr/>
        </p:nvSpPr>
        <p:spPr>
          <a:xfrm>
            <a:off x="5469088" y="4802676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86" name="Table 385">
            <a:extLst>
              <a:ext uri="{FF2B5EF4-FFF2-40B4-BE49-F238E27FC236}">
                <a16:creationId xmlns:a16="http://schemas.microsoft.com/office/drawing/2014/main" id="{DD93BB3B-2B03-08D2-6E74-4E2895DA2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310983"/>
              </p:ext>
            </p:extLst>
          </p:nvPr>
        </p:nvGraphicFramePr>
        <p:xfrm>
          <a:off x="1807555" y="1823071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7" name="Table 386">
            <a:extLst>
              <a:ext uri="{FF2B5EF4-FFF2-40B4-BE49-F238E27FC236}">
                <a16:creationId xmlns:a16="http://schemas.microsoft.com/office/drawing/2014/main" id="{6D0D8199-A6BE-9578-DF2B-9088E9302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83998"/>
              </p:ext>
            </p:extLst>
          </p:nvPr>
        </p:nvGraphicFramePr>
        <p:xfrm>
          <a:off x="9461271" y="1794466"/>
          <a:ext cx="845810" cy="1483360"/>
        </p:xfrm>
        <a:graphic>
          <a:graphicData uri="http://schemas.openxmlformats.org/drawingml/2006/table">
            <a:tbl>
              <a:tblPr firstRow="1" bandRow="1"/>
              <a:tblGrid>
                <a:gridCol w="84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8" name="Right Arrow 23">
            <a:extLst>
              <a:ext uri="{FF2B5EF4-FFF2-40B4-BE49-F238E27FC236}">
                <a16:creationId xmlns:a16="http://schemas.microsoft.com/office/drawing/2014/main" id="{9276291B-EEB8-4781-9365-48BD5445E692}"/>
              </a:ext>
            </a:extLst>
          </p:cNvPr>
          <p:cNvSpPr/>
          <p:nvPr/>
        </p:nvSpPr>
        <p:spPr>
          <a:xfrm>
            <a:off x="8778813" y="2424379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85CAF38E-E739-91C7-2224-A911853D8DE4}"/>
              </a:ext>
            </a:extLst>
          </p:cNvPr>
          <p:cNvSpPr txBox="1"/>
          <p:nvPr/>
        </p:nvSpPr>
        <p:spPr>
          <a:xfrm>
            <a:off x="8916501" y="600178"/>
            <a:ext cx="17424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Tournament </a:t>
            </a:r>
            <a:br>
              <a:rPr lang="en-US" sz="2400" kern="1200" dirty="0">
                <a:latin typeface="Albertus Medium"/>
                <a:ea typeface="+mn-ea"/>
                <a:cs typeface="+mn-cs"/>
              </a:rPr>
            </a:br>
            <a:r>
              <a:rPr lang="en-US" sz="2400" kern="1200" dirty="0">
                <a:latin typeface="Albertus Medium"/>
                <a:ea typeface="+mn-ea"/>
                <a:cs typeface="+mn-cs"/>
              </a:rPr>
              <a:t>Selection</a:t>
            </a:r>
          </a:p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Size 4</a:t>
            </a:r>
          </a:p>
          <a:p>
            <a:pPr algn="ctr">
              <a:buClrTx/>
              <a:buFontTx/>
              <a:buNone/>
            </a:pP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90" name="Table 389">
            <a:extLst>
              <a:ext uri="{FF2B5EF4-FFF2-40B4-BE49-F238E27FC236}">
                <a16:creationId xmlns:a16="http://schemas.microsoft.com/office/drawing/2014/main" id="{8598BD53-4743-CC78-1699-8219B9ACB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207931"/>
              </p:ext>
            </p:extLst>
          </p:nvPr>
        </p:nvGraphicFramePr>
        <p:xfrm>
          <a:off x="7598720" y="3306431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1" name="TextBox 390">
            <a:extLst>
              <a:ext uri="{FF2B5EF4-FFF2-40B4-BE49-F238E27FC236}">
                <a16:creationId xmlns:a16="http://schemas.microsoft.com/office/drawing/2014/main" id="{A8A7CC39-511C-1848-BF23-139410EB7CED}"/>
              </a:ext>
            </a:extLst>
          </p:cNvPr>
          <p:cNvSpPr txBox="1"/>
          <p:nvPr/>
        </p:nvSpPr>
        <p:spPr>
          <a:xfrm>
            <a:off x="7330467" y="1307198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P+O Pool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374;p5">
                <a:extLst>
                  <a:ext uri="{FF2B5EF4-FFF2-40B4-BE49-F238E27FC236}">
                    <a16:creationId xmlns:a16="http://schemas.microsoft.com/office/drawing/2014/main" id="{52111D2F-60B9-F7F2-E00E-F14B6F76099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7187" y="5480089"/>
                <a:ext cx="10156432" cy="1018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Cá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</a:rPr>
                  <a:t>thể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 elite </a:t>
                </a:r>
                <a:r>
                  <a:rPr lang="en-US" sz="2200" dirty="0" err="1">
                    <a:latin typeface="+mn-lt"/>
                  </a:rPr>
                  <a:t>của</a:t>
                </a:r>
                <a:r>
                  <a:rPr lang="en-US" sz="2200" dirty="0">
                    <a:latin typeface="+mn-lt"/>
                  </a:rPr>
                  <a:t> (P+O) Pool </a:t>
                </a:r>
                <a:r>
                  <a:rPr lang="en-US" sz="2200" dirty="0" err="1">
                    <a:latin typeface="+mn-lt"/>
                  </a:rPr>
                  <a:t>luôn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được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</a:rPr>
                  <a:t>sao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</a:rPr>
                  <a:t>chép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 2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</a:rPr>
                  <a:t>lần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200" dirty="0">
                    <a:latin typeface="+mn-lt"/>
                  </a:rPr>
                  <a:t>sang </a:t>
                </a:r>
                <a:r>
                  <a:rPr lang="en-US" sz="2200" dirty="0" err="1">
                    <a:latin typeface="+mn-lt"/>
                  </a:rPr>
                  <a:t>thế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hệ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tiếp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theo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>
                    <a:latin typeface="+mn-lt"/>
                    <a:sym typeface="Wingdings" panose="05000000000000000000" pitchFamily="2" charset="2"/>
                  </a:rPr>
                  <a:t> </a:t>
                </a:r>
                <a:r>
                  <a:rPr lang="en-US" sz="2200" dirty="0" err="1">
                    <a:latin typeface="+mn-lt"/>
                    <a:sym typeface="Wingdings" panose="05000000000000000000" pitchFamily="2" charset="2"/>
                  </a:rPr>
                  <a:t>sau</a:t>
                </a:r>
                <a:r>
                  <a:rPr lang="en-US" sz="2200" dirty="0">
                    <a:latin typeface="+mn-lt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log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thế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hệ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liên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tiếp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nhau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mà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không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có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cá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thể</a:t>
                </a:r>
                <a:r>
                  <a:rPr lang="en-US" sz="2200" dirty="0">
                    <a:latin typeface="+mn-lt"/>
                  </a:rPr>
                  <a:t> elite </a:t>
                </a:r>
                <a:r>
                  <a:rPr lang="en-US" sz="2200" dirty="0" err="1">
                    <a:latin typeface="+mn-lt"/>
                  </a:rPr>
                  <a:t>mới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xuất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hiện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thì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quần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thể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sẽ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</a:rPr>
                  <a:t>hội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</a:rPr>
                  <a:t>tụ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về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cá</a:t>
                </a:r>
                <a:r>
                  <a:rPr lang="en-US" sz="2200" dirty="0">
                    <a:latin typeface="+mn-lt"/>
                  </a:rPr>
                  <a:t> </a:t>
                </a:r>
                <a:r>
                  <a:rPr lang="en-US" sz="2200" dirty="0" err="1">
                    <a:latin typeface="+mn-lt"/>
                  </a:rPr>
                  <a:t>thể</a:t>
                </a:r>
                <a:r>
                  <a:rPr lang="en-US" sz="2200" dirty="0">
                    <a:latin typeface="+mn-lt"/>
                  </a:rPr>
                  <a:t> elite </a:t>
                </a:r>
                <a:r>
                  <a:rPr lang="en-US" sz="2200" dirty="0" err="1">
                    <a:latin typeface="+mn-lt"/>
                  </a:rPr>
                  <a:t>này</a:t>
                </a:r>
                <a:r>
                  <a:rPr lang="en-US" sz="2200" dirty="0">
                    <a:latin typeface="+mn-lt"/>
                  </a:rPr>
                  <a:t>.</a:t>
                </a:r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200" dirty="0"/>
              </a:p>
            </p:txBody>
          </p:sp>
        </mc:Choice>
        <mc:Fallback xmlns="">
          <p:sp>
            <p:nvSpPr>
              <p:cNvPr id="2" name="Google Shape;374;p5">
                <a:extLst>
                  <a:ext uri="{FF2B5EF4-FFF2-40B4-BE49-F238E27FC236}">
                    <a16:creationId xmlns:a16="http://schemas.microsoft.com/office/drawing/2014/main" id="{52111D2F-60B9-F7F2-E00E-F14B6F76099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7187" y="5480089"/>
                <a:ext cx="10156432" cy="1018732"/>
              </a:xfrm>
              <a:prstGeom prst="rect">
                <a:avLst/>
              </a:prstGeom>
              <a:blipFill>
                <a:blip r:embed="rId3"/>
                <a:stretch>
                  <a:fillRect t="-3593" r="-780" b="-203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687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EF6F95E0-E35C-3C7E-C407-547D6C44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57F9C0F0-127A-99B9-B0B2-8BA08A167D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119" y="47161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di </a:t>
            </a:r>
            <a:r>
              <a:rPr lang="en-US" dirty="0" err="1"/>
              <a:t>truyền</a:t>
            </a:r>
            <a:r>
              <a:rPr lang="en-US" dirty="0"/>
              <a:t> –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POPOP</a:t>
            </a:r>
            <a:endParaRPr dirty="0"/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901E7247-D71B-F4E0-4D5F-B266B6FE63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8A97484B-ADD5-B475-ED17-AAD97E3575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19</a:t>
            </a:fld>
            <a:endParaRPr/>
          </a:p>
        </p:txBody>
      </p:sp>
      <p:graphicFrame>
        <p:nvGraphicFramePr>
          <p:cNvPr id="372" name="Table 371">
            <a:extLst>
              <a:ext uri="{FF2B5EF4-FFF2-40B4-BE49-F238E27FC236}">
                <a16:creationId xmlns:a16="http://schemas.microsoft.com/office/drawing/2014/main" id="{AF8ABFBD-8D31-6F61-94B7-C17596F9C6C8}"/>
              </a:ext>
            </a:extLst>
          </p:cNvPr>
          <p:cNvGraphicFramePr>
            <a:graphicFrameLocks noGrp="1"/>
          </p:cNvGraphicFramePr>
          <p:nvPr/>
        </p:nvGraphicFramePr>
        <p:xfrm>
          <a:off x="7598719" y="1823071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7" name="Table 376">
            <a:extLst>
              <a:ext uri="{FF2B5EF4-FFF2-40B4-BE49-F238E27FC236}">
                <a16:creationId xmlns:a16="http://schemas.microsoft.com/office/drawing/2014/main" id="{53E10F4E-749A-2EAE-EB9D-F2B220E1E5E4}"/>
              </a:ext>
            </a:extLst>
          </p:cNvPr>
          <p:cNvGraphicFramePr>
            <a:graphicFrameLocks noGrp="1"/>
          </p:cNvGraphicFramePr>
          <p:nvPr/>
        </p:nvGraphicFramePr>
        <p:xfrm>
          <a:off x="5864233" y="1804816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8" name="Rounded Rectangle 10">
            <a:extLst>
              <a:ext uri="{FF2B5EF4-FFF2-40B4-BE49-F238E27FC236}">
                <a16:creationId xmlns:a16="http://schemas.microsoft.com/office/drawing/2014/main" id="{9E9353E5-BD04-FA29-0EB6-FE6F71126A39}"/>
              </a:ext>
            </a:extLst>
          </p:cNvPr>
          <p:cNvSpPr/>
          <p:nvPr/>
        </p:nvSpPr>
        <p:spPr>
          <a:xfrm>
            <a:off x="3462037" y="2232889"/>
            <a:ext cx="1499544" cy="668215"/>
          </a:xfrm>
          <a:prstGeom prst="roundRect">
            <a:avLst/>
          </a:prstGeom>
          <a:solidFill>
            <a:srgbClr val="0000FF">
              <a:lumMod val="75000"/>
            </a:srgbClr>
          </a:solidFill>
          <a:ln w="25400" cap="flat" cmpd="sng" algn="ctr">
            <a:solidFill>
              <a:srgbClr val="0000FF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us Medium"/>
                <a:ea typeface="+mn-ea"/>
                <a:cs typeface="+mn-cs"/>
              </a:rPr>
              <a:t>Variation</a:t>
            </a:r>
          </a:p>
        </p:txBody>
      </p:sp>
      <p:sp>
        <p:nvSpPr>
          <p:cNvPr id="379" name="Right Arrow 11">
            <a:extLst>
              <a:ext uri="{FF2B5EF4-FFF2-40B4-BE49-F238E27FC236}">
                <a16:creationId xmlns:a16="http://schemas.microsoft.com/office/drawing/2014/main" id="{A1F298B8-A892-C906-0DCA-DC4F29B7BF87}"/>
              </a:ext>
            </a:extLst>
          </p:cNvPr>
          <p:cNvSpPr/>
          <p:nvPr/>
        </p:nvSpPr>
        <p:spPr>
          <a:xfrm>
            <a:off x="2833299" y="2453482"/>
            <a:ext cx="483576" cy="195478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0" name="Right Arrow 13">
            <a:extLst>
              <a:ext uri="{FF2B5EF4-FFF2-40B4-BE49-F238E27FC236}">
                <a16:creationId xmlns:a16="http://schemas.microsoft.com/office/drawing/2014/main" id="{4DFB1EE3-27C1-C974-EA65-6EFD1686BB8E}"/>
              </a:ext>
            </a:extLst>
          </p:cNvPr>
          <p:cNvSpPr/>
          <p:nvPr/>
        </p:nvSpPr>
        <p:spPr>
          <a:xfrm>
            <a:off x="5112405" y="2429930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1" name="Right Arrow 14">
            <a:extLst>
              <a:ext uri="{FF2B5EF4-FFF2-40B4-BE49-F238E27FC236}">
                <a16:creationId xmlns:a16="http://schemas.microsoft.com/office/drawing/2014/main" id="{A1615332-191B-FAED-7564-977335B94452}"/>
              </a:ext>
            </a:extLst>
          </p:cNvPr>
          <p:cNvSpPr/>
          <p:nvPr/>
        </p:nvSpPr>
        <p:spPr>
          <a:xfrm>
            <a:off x="6846891" y="2429930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D1704286-94B0-ABDB-0CD8-5F7E0C9F047C}"/>
              </a:ext>
            </a:extLst>
          </p:cNvPr>
          <p:cNvSpPr txBox="1"/>
          <p:nvPr/>
        </p:nvSpPr>
        <p:spPr>
          <a:xfrm>
            <a:off x="1583288" y="1298683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Population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D9B61BCA-AA07-6FE1-59FC-9329FE638FE7}"/>
              </a:ext>
            </a:extLst>
          </p:cNvPr>
          <p:cNvSpPr txBox="1"/>
          <p:nvPr/>
        </p:nvSpPr>
        <p:spPr>
          <a:xfrm>
            <a:off x="5595981" y="1316043"/>
            <a:ext cx="1376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Offspring</a:t>
            </a:r>
          </a:p>
        </p:txBody>
      </p:sp>
      <p:sp>
        <p:nvSpPr>
          <p:cNvPr id="384" name="Curved Left Arrow 18">
            <a:extLst>
              <a:ext uri="{FF2B5EF4-FFF2-40B4-BE49-F238E27FC236}">
                <a16:creationId xmlns:a16="http://schemas.microsoft.com/office/drawing/2014/main" id="{ED4EB7CB-0ECB-8EEE-1F45-553F87F52493}"/>
              </a:ext>
            </a:extLst>
          </p:cNvPr>
          <p:cNvSpPr/>
          <p:nvPr/>
        </p:nvSpPr>
        <p:spPr>
          <a:xfrm rot="5400000">
            <a:off x="5264395" y="688320"/>
            <a:ext cx="1311032" cy="8106379"/>
          </a:xfrm>
          <a:prstGeom prst="curvedLeftArrow">
            <a:avLst>
              <a:gd name="adj1" fmla="val 25000"/>
              <a:gd name="adj2" fmla="val 50000"/>
              <a:gd name="adj3" fmla="val 26854"/>
            </a:avLst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6DE111A-5587-4779-EA63-0D260FDAAAFA}"/>
              </a:ext>
            </a:extLst>
          </p:cNvPr>
          <p:cNvSpPr txBox="1"/>
          <p:nvPr/>
        </p:nvSpPr>
        <p:spPr>
          <a:xfrm>
            <a:off x="5469088" y="4802676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Replace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86" name="Table 385">
            <a:extLst>
              <a:ext uri="{FF2B5EF4-FFF2-40B4-BE49-F238E27FC236}">
                <a16:creationId xmlns:a16="http://schemas.microsoft.com/office/drawing/2014/main" id="{CA7DEA25-3301-8B41-4208-F8C2973A9FB3}"/>
              </a:ext>
            </a:extLst>
          </p:cNvPr>
          <p:cNvGraphicFramePr>
            <a:graphicFrameLocks noGrp="1"/>
          </p:cNvGraphicFramePr>
          <p:nvPr/>
        </p:nvGraphicFramePr>
        <p:xfrm>
          <a:off x="1807555" y="1823071"/>
          <a:ext cx="840762" cy="1483360"/>
        </p:xfrm>
        <a:graphic>
          <a:graphicData uri="http://schemas.openxmlformats.org/drawingml/2006/table">
            <a:tbl>
              <a:tblPr firstRow="1" bandRow="1"/>
              <a:tblGrid>
                <a:gridCol w="84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01000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7" name="Table 386">
            <a:extLst>
              <a:ext uri="{FF2B5EF4-FFF2-40B4-BE49-F238E27FC236}">
                <a16:creationId xmlns:a16="http://schemas.microsoft.com/office/drawing/2014/main" id="{E1C93575-299D-04DF-CC1F-FD47E2AA7E08}"/>
              </a:ext>
            </a:extLst>
          </p:cNvPr>
          <p:cNvGraphicFramePr>
            <a:graphicFrameLocks noGrp="1"/>
          </p:cNvGraphicFramePr>
          <p:nvPr/>
        </p:nvGraphicFramePr>
        <p:xfrm>
          <a:off x="9461271" y="1794466"/>
          <a:ext cx="845810" cy="1483360"/>
        </p:xfrm>
        <a:graphic>
          <a:graphicData uri="http://schemas.openxmlformats.org/drawingml/2006/table">
            <a:tbl>
              <a:tblPr firstRow="1" bandRow="1"/>
              <a:tblGrid>
                <a:gridCol w="84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10101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00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8" name="Right Arrow 23">
            <a:extLst>
              <a:ext uri="{FF2B5EF4-FFF2-40B4-BE49-F238E27FC236}">
                <a16:creationId xmlns:a16="http://schemas.microsoft.com/office/drawing/2014/main" id="{E256417F-1D14-8245-131E-F07C5B17A8ED}"/>
              </a:ext>
            </a:extLst>
          </p:cNvPr>
          <p:cNvSpPr/>
          <p:nvPr/>
        </p:nvSpPr>
        <p:spPr>
          <a:xfrm>
            <a:off x="8778813" y="2424379"/>
            <a:ext cx="483576" cy="244233"/>
          </a:xfrm>
          <a:prstGeom prst="rightArrow">
            <a:avLst/>
          </a:prstGeom>
          <a:solidFill>
            <a:srgbClr val="000000">
              <a:lumMod val="75000"/>
              <a:lumOff val="25000"/>
            </a:srgbClr>
          </a:solidFill>
          <a:ln w="254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us Medium"/>
              <a:ea typeface="+mn-ea"/>
              <a:cs typeface="+mn-cs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20080224-EE2F-9ADE-FC74-64773D41FAF1}"/>
              </a:ext>
            </a:extLst>
          </p:cNvPr>
          <p:cNvSpPr txBox="1"/>
          <p:nvPr/>
        </p:nvSpPr>
        <p:spPr>
          <a:xfrm>
            <a:off x="8916501" y="600178"/>
            <a:ext cx="17424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Tournament </a:t>
            </a:r>
            <a:br>
              <a:rPr lang="en-US" sz="2400" kern="1200" dirty="0">
                <a:latin typeface="Albertus Medium"/>
                <a:ea typeface="+mn-ea"/>
                <a:cs typeface="+mn-cs"/>
              </a:rPr>
            </a:br>
            <a:r>
              <a:rPr lang="en-US" sz="2400" kern="1200" dirty="0">
                <a:latin typeface="Albertus Medium"/>
                <a:ea typeface="+mn-ea"/>
                <a:cs typeface="+mn-cs"/>
              </a:rPr>
              <a:t>Selection</a:t>
            </a:r>
          </a:p>
          <a:p>
            <a:pPr algn="ctr">
              <a:buClrTx/>
              <a:buFontTx/>
              <a:buNone/>
            </a:pPr>
            <a:r>
              <a:rPr lang="en-US" sz="2400" kern="1200" dirty="0">
                <a:latin typeface="Albertus Medium"/>
                <a:ea typeface="+mn-ea"/>
                <a:cs typeface="+mn-cs"/>
              </a:rPr>
              <a:t>Size 4</a:t>
            </a:r>
          </a:p>
          <a:p>
            <a:pPr algn="ctr">
              <a:buClrTx/>
              <a:buFontTx/>
              <a:buNone/>
            </a:pP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p:graphicFrame>
        <p:nvGraphicFramePr>
          <p:cNvPr id="390" name="Table 389">
            <a:extLst>
              <a:ext uri="{FF2B5EF4-FFF2-40B4-BE49-F238E27FC236}">
                <a16:creationId xmlns:a16="http://schemas.microsoft.com/office/drawing/2014/main" id="{193F1E86-0A2B-05CB-DFFC-CD1A9E5A63E9}"/>
              </a:ext>
            </a:extLst>
          </p:cNvPr>
          <p:cNvGraphicFramePr>
            <a:graphicFrameLocks noGrp="1"/>
          </p:cNvGraphicFramePr>
          <p:nvPr/>
        </p:nvGraphicFramePr>
        <p:xfrm>
          <a:off x="7598720" y="3306431"/>
          <a:ext cx="924615" cy="1483360"/>
        </p:xfrm>
        <a:graphic>
          <a:graphicData uri="http://schemas.openxmlformats.org/drawingml/2006/table">
            <a:tbl>
              <a:tblPr firstRow="1" bandRow="1"/>
              <a:tblGrid>
                <a:gridCol w="92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11101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10110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01011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Albertus Medium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11001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33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1" name="TextBox 390">
            <a:extLst>
              <a:ext uri="{FF2B5EF4-FFF2-40B4-BE49-F238E27FC236}">
                <a16:creationId xmlns:a16="http://schemas.microsoft.com/office/drawing/2014/main" id="{C487D87A-6BE7-D9CF-A893-DCF104745E28}"/>
              </a:ext>
            </a:extLst>
          </p:cNvPr>
          <p:cNvSpPr txBox="1"/>
          <p:nvPr/>
        </p:nvSpPr>
        <p:spPr>
          <a:xfrm>
            <a:off x="7330467" y="1307198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latin typeface="Albertus Medium"/>
                <a:ea typeface="+mn-ea"/>
                <a:cs typeface="+mn-cs"/>
              </a:rPr>
              <a:t>P+O Pool</a:t>
            </a:r>
            <a:endParaRPr lang="en-US" sz="2400" kern="1200" dirty="0">
              <a:latin typeface="Albertus Medium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374;p5">
                <a:extLst>
                  <a:ext uri="{FF2B5EF4-FFF2-40B4-BE49-F238E27FC236}">
                    <a16:creationId xmlns:a16="http://schemas.microsoft.com/office/drawing/2014/main" id="{D2F004BE-2A13-56C9-3259-C6AB56546E3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07187" y="5506473"/>
                <a:ext cx="10156432" cy="9923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778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Khi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không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có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sự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cải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thiện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(no improvement)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diễn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ra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trong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sz="22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log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200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𝑁</m:t>
                        </m:r>
                      </m:e>
                    </m:func>
                    <m:r>
                      <a:rPr lang="en-US" sz="22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thế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hệ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liên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tiếp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nhau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thì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quần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thể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hội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tụ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</a:rPr>
                  <a:t> 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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Thiết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kế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các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  <a:sym typeface="Wingdings" panose="05000000000000000000" pitchFamily="2" charset="2"/>
                  </a:rPr>
                  <a:t>phép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  <a:sym typeface="Wingdings" panose="05000000000000000000" pitchFamily="2" charset="2"/>
                  </a:rPr>
                  <a:t>biến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rgbClr val="FF0000"/>
                    </a:solidFill>
                    <a:latin typeface="+mn-lt"/>
                    <a:sym typeface="Wingdings" panose="05000000000000000000" pitchFamily="2" charset="2"/>
                  </a:rPr>
                  <a:t>đổi</a:t>
                </a:r>
                <a:r>
                  <a:rPr lang="en-US" sz="2200" dirty="0">
                    <a:solidFill>
                      <a:srgbClr val="FF0000"/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sao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cho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phù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hợp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với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bài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toán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cần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giải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 </a:t>
                </a:r>
                <a:r>
                  <a:rPr lang="en-US" sz="2200" dirty="0" err="1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quyết</a:t>
                </a:r>
                <a:r>
                  <a:rPr lang="en-US" sz="2200" dirty="0">
                    <a:solidFill>
                      <a:schemeClr val="tx1">
                        <a:lumMod val="50000"/>
                      </a:schemeClr>
                    </a:solidFill>
                    <a:latin typeface="+mn-lt"/>
                    <a:sym typeface="Wingdings" panose="05000000000000000000" pitchFamily="2" charset="2"/>
                  </a:rPr>
                  <a:t>.</a:t>
                </a:r>
                <a:endParaRPr lang="en-US" sz="2200" dirty="0">
                  <a:solidFill>
                    <a:schemeClr val="tx1">
                      <a:lumMod val="50000"/>
                    </a:schemeClr>
                  </a:solidFill>
                  <a:latin typeface="+mn-lt"/>
                </a:endParaRPr>
              </a:p>
              <a:p>
                <a:pPr marL="177800" indent="0">
                  <a:spcBef>
                    <a:spcPts val="0"/>
                  </a:spcBef>
                  <a:buNone/>
                </a:pPr>
                <a:endParaRPr sz="2200" dirty="0"/>
              </a:p>
            </p:txBody>
          </p:sp>
        </mc:Choice>
        <mc:Fallback xmlns="">
          <p:sp>
            <p:nvSpPr>
              <p:cNvPr id="2" name="Google Shape;374;p5">
                <a:extLst>
                  <a:ext uri="{FF2B5EF4-FFF2-40B4-BE49-F238E27FC236}">
                    <a16:creationId xmlns:a16="http://schemas.microsoft.com/office/drawing/2014/main" id="{D2F004BE-2A13-56C9-3259-C6AB56546E3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07187" y="5506473"/>
                <a:ext cx="10156432" cy="992347"/>
              </a:xfrm>
              <a:prstGeom prst="rect">
                <a:avLst/>
              </a:prstGeom>
              <a:blipFill>
                <a:blip r:embed="rId3"/>
                <a:stretch>
                  <a:fillRect t="-3067" r="-780" b="-239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6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4BFE67B-A7F8-43E4-8C5A-44457732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">
            <a:extLst>
              <a:ext uri="{FF2B5EF4-FFF2-40B4-BE49-F238E27FC236}">
                <a16:creationId xmlns:a16="http://schemas.microsoft.com/office/drawing/2014/main" id="{F4241E3B-05A1-7AEF-2E2F-162BC5B83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</a:pPr>
            <a:r>
              <a:rPr lang="en-US" dirty="0"/>
              <a:t>ĐÁNH GIÁ HIỆU SUẤT</a:t>
            </a:r>
            <a:endParaRPr dirty="0"/>
          </a:p>
        </p:txBody>
      </p:sp>
      <p:sp>
        <p:nvSpPr>
          <p:cNvPr id="364" name="Google Shape;364;p4">
            <a:extLst>
              <a:ext uri="{FF2B5EF4-FFF2-40B4-BE49-F238E27FC236}">
                <a16:creationId xmlns:a16="http://schemas.microsoft.com/office/drawing/2014/main" id="{2D7E739A-91EC-BB0A-D77A-6ABD509B52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PERFORMANCE EVALUATION</a:t>
            </a:r>
            <a:endParaRPr dirty="0"/>
          </a:p>
        </p:txBody>
      </p:sp>
      <p:sp>
        <p:nvSpPr>
          <p:cNvPr id="365" name="Google Shape;365;p4">
            <a:extLst>
              <a:ext uri="{FF2B5EF4-FFF2-40B4-BE49-F238E27FC236}">
                <a16:creationId xmlns:a16="http://schemas.microsoft.com/office/drawing/2014/main" id="{5FBC683D-5A9B-F8B6-1F18-343AA8D11E4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</a:pPr>
            <a:endParaRPr/>
          </a:p>
        </p:txBody>
      </p:sp>
      <p:sp>
        <p:nvSpPr>
          <p:cNvPr id="366" name="Google Shape;366;p4">
            <a:extLst>
              <a:ext uri="{FF2B5EF4-FFF2-40B4-BE49-F238E27FC236}">
                <a16:creationId xmlns:a16="http://schemas.microsoft.com/office/drawing/2014/main" id="{F8F52F89-B1E2-71BB-2819-0DAE7F233094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</a:pPr>
            <a:endParaRPr/>
          </a:p>
        </p:txBody>
      </p:sp>
      <p:sp>
        <p:nvSpPr>
          <p:cNvPr id="367" name="Google Shape;367;p4">
            <a:extLst>
              <a:ext uri="{FF2B5EF4-FFF2-40B4-BE49-F238E27FC236}">
                <a16:creationId xmlns:a16="http://schemas.microsoft.com/office/drawing/2014/main" id="{51208D8E-C614-ECB1-4082-ED156448609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68" name="Google Shape;368;p4">
            <a:extLst>
              <a:ext uri="{FF2B5EF4-FFF2-40B4-BE49-F238E27FC236}">
                <a16:creationId xmlns:a16="http://schemas.microsoft.com/office/drawing/2014/main" id="{01C1FF74-9AD0-B38C-D4C1-B7CF7671AF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013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3DC686B5-F37C-F0F7-9077-E2B0F1D2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568B6E89-FFD3-7A78-9690-23ECAFFEA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benchmark - </a:t>
            </a:r>
            <a:r>
              <a:rPr lang="en-US" dirty="0" err="1"/>
              <a:t>OneMax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50865182-1A1C-1FE8-8B20-B86FF8259CE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49431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sz="2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chuỗi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phân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có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bit.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Tìm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giá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trị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của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để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cực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đại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hóa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  <a:latin typeface="+mj-lt"/>
                  </a:rPr>
                  <a:t>OneMax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neMax</m:t>
                          </m:r>
                        </m:sub>
                      </m:sSub>
                      <m:d>
                        <m:dPr>
                          <m:ctrlP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vi-VN" sz="2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vi-VN" sz="2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2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FF0000"/>
                    </a:solidFill>
                    <a:latin typeface="+mj-lt"/>
                  </a:rPr>
                  <a:t>Ví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+mj-lt"/>
                  </a:rPr>
                  <a:t>dụ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: </a:t>
                </a:r>
                <a:r>
                  <a:rPr lang="en-US" sz="2400" dirty="0" err="1">
                    <a:latin typeface="+mj-lt"/>
                  </a:rPr>
                  <a:t>Xét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hàm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OneMax</a:t>
                </a:r>
                <a:r>
                  <a:rPr lang="en-US" sz="2400" dirty="0">
                    <a:latin typeface="+mj-lt"/>
                  </a:rPr>
                  <a:t> 10 bit</a:t>
                </a:r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4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neMax</m:t>
                        </m:r>
                      </m:sub>
                    </m:sSub>
                    <m:d>
                      <m:dPr>
                        <m:ctrlP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=1010100011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4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neMax</m:t>
                        </m:r>
                      </m:sub>
                    </m:sSub>
                    <m:d>
                      <m:dPr>
                        <m:ctrlP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=0111100110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  <a:p>
                <a:pPr marL="342900" indent="-342900"/>
                <a:r>
                  <a:rPr lang="en-US" sz="2400" dirty="0" err="1">
                    <a:latin typeface="+mj-lt"/>
                  </a:rPr>
                  <a:t>Lời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giải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tối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ưu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là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chuỗi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gồm</a:t>
                </a:r>
                <a:r>
                  <a:rPr lang="en-US" sz="2400" dirty="0">
                    <a:latin typeface="+mj-lt"/>
                  </a:rPr>
                  <a:t> 10 bit-1 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4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neMax</m:t>
                        </m:r>
                      </m:sub>
                    </m:sSub>
                    <m:d>
                      <m:dPr>
                        <m:ctrlP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=1111111111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50865182-1A1C-1FE8-8B20-B86FF8259CE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4943139"/>
              </a:xfrm>
              <a:prstGeom prst="rect">
                <a:avLst/>
              </a:prstGeom>
              <a:blipFill>
                <a:blip r:embed="rId3"/>
                <a:stretch>
                  <a:fillRect l="-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2C2E6EEE-ED5E-EF70-D68D-91E56391E6E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DDB6DA20-44D4-E819-5E5F-D166CC12B5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612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6968E8C7-B8E2-6621-4F82-F41A08AE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1BD029F8-FC11-67EA-0534-A7DBFE7F7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benchmark – Concatenated Trap-k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FD88A46-F4C0-A192-950E-6B4BDFCFE20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5552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sz="2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chuỗi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phân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có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bit.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Tìm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giá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trị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của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để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cực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đại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hóa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Trap-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i="1" dirty="0">
                          <a:latin typeface="Cambria Math" charset="0"/>
                        </a:rPr>
                        <m:t>𝑢</m:t>
                      </m:r>
                      <m:r>
                        <a:rPr lang="vi-VN" sz="2400" i="1" dirty="0"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vi-VN" sz="2400" i="1" dirty="0">
                              <a:latin typeface="Cambria Math" charset="0"/>
                            </a:rPr>
                            <m:t>𝑖</m:t>
                          </m:r>
                          <m:r>
                            <a:rPr lang="vi-VN" sz="2400" i="1" dirty="0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2400" i="1" dirty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2400" i="1" dirty="0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vi-VN" sz="2400" dirty="0"/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400" i="1">
                              <a:latin typeface="Cambria Math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Trap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vi-V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i="1">
                              <a:latin typeface="Cambria Math" charset="0"/>
                            </a:rPr>
                            <m:t>𝑢</m:t>
                          </m:r>
                        </m:e>
                      </m:d>
                      <m:r>
                        <a:rPr lang="vi-VN" sz="2400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mr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vi-VN" sz="2400" i="1">
                                  <a:latin typeface="Cambria Math" charset="0"/>
                                </a:rPr>
                                <m:t>n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ế</m:t>
                              </m:r>
                              <m:r>
                                <m:rPr>
                                  <m:sty m:val="p"/>
                                </m:rPr>
                                <a:rPr lang="vi-VN" sz="2400" i="1">
                                  <a:latin typeface="Cambria Math" charset="0"/>
                                </a:rPr>
                                <m:t>u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vi-VN" sz="2400" i="1">
                                  <a:latin typeface="Cambria Math" charset="0"/>
                                </a:rPr>
                                <m:t>u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−1−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𝑢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vi-VN" sz="2400" i="1">
                                  <a:latin typeface="Cambria Math" charset="0"/>
                                </a:rPr>
                                <m:t>n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ế</m:t>
                              </m:r>
                              <m:r>
                                <m:rPr>
                                  <m:sty m:val="p"/>
                                </m:rPr>
                                <a:rPr lang="vi-VN" sz="2400" i="1">
                                  <a:latin typeface="Cambria Math" charset="0"/>
                                </a:rPr>
                                <m:t>u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vi-VN" sz="2400" i="1">
                                  <a:latin typeface="Cambria Math" charset="0"/>
                                </a:rPr>
                                <m:t>u</m:t>
                              </m:r>
                              <m:r>
                                <a:rPr lang="vi-VN" sz="2400" i="1">
                                  <a:latin typeface="Cambria Math" charset="0"/>
                                </a:rPr>
                                <m:t>&lt;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FF0000"/>
                    </a:solidFill>
                    <a:latin typeface="+mj-lt"/>
                  </a:rPr>
                  <a:t>Ví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+mj-lt"/>
                  </a:rPr>
                  <a:t>dụ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: </a:t>
                </a:r>
                <a:r>
                  <a:rPr lang="en-US" sz="2400" dirty="0" err="1">
                    <a:latin typeface="+mj-lt"/>
                  </a:rPr>
                  <a:t>Xét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hàm</a:t>
                </a:r>
                <a:r>
                  <a:rPr lang="en-US" sz="2400" dirty="0">
                    <a:latin typeface="+mj-lt"/>
                  </a:rPr>
                  <a:t> Trap-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với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latin typeface="+mj-lt"/>
                  </a:rPr>
                  <a:t> bit.</a:t>
                </a:r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Trap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  <m:d>
                      <m:dPr>
                        <m:ctrlPr>
                          <a:rPr lang="vi-VN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=1111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latin typeface="+mj-lt"/>
                  </a:rPr>
                  <a:t> (</a:t>
                </a:r>
                <a:r>
                  <a:rPr lang="en-US" sz="2400" dirty="0" err="1">
                    <a:latin typeface="+mj-lt"/>
                  </a:rPr>
                  <a:t>tối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ưu</a:t>
                </a:r>
                <a:r>
                  <a:rPr lang="en-US" sz="2400" dirty="0">
                    <a:latin typeface="+mj-lt"/>
                  </a:rPr>
                  <a:t>)</a:t>
                </a: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Trap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0,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Trap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  <m:d>
                      <m:dPr>
                        <m:ctrlP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011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Trap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  <m:d>
                      <m:dPr>
                        <m:ctrlP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pPr marL="342900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Trap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b>
                    </m:sSub>
                    <m:d>
                      <m:dPr>
                        <m:ctrlPr>
                          <a:rPr lang="vi-VN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2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pPr marL="342900" indent="-342900"/>
                <a:r>
                  <a:rPr lang="en-US" sz="2400" dirty="0" err="1">
                    <a:latin typeface="+mj-lt"/>
                  </a:rPr>
                  <a:t>Thuật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giải</a:t>
                </a:r>
                <a:r>
                  <a:rPr lang="en-US" sz="2400" dirty="0">
                    <a:latin typeface="+mj-lt"/>
                  </a:rPr>
                  <a:t> di </a:t>
                </a:r>
                <a:r>
                  <a:rPr lang="en-US" sz="2400" dirty="0" err="1">
                    <a:latin typeface="+mj-lt"/>
                  </a:rPr>
                  <a:t>truyền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bị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bẫy</a:t>
                </a:r>
                <a:r>
                  <a:rPr lang="en-US" sz="2400" dirty="0">
                    <a:latin typeface="+mj-lt"/>
                  </a:rPr>
                  <a:t>, </a:t>
                </a:r>
                <a:r>
                  <a:rPr lang="en-US" sz="2400" dirty="0" err="1">
                    <a:latin typeface="+mj-lt"/>
                  </a:rPr>
                  <a:t>tiến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hóa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theo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hướng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nhiều</a:t>
                </a:r>
                <a:r>
                  <a:rPr lang="en-US" sz="2400" dirty="0">
                    <a:latin typeface="+mj-lt"/>
                  </a:rPr>
                  <a:t> bit-0.</a:t>
                </a: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FD88A46-F4C0-A192-950E-6B4BDFCFE20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6077" y="1081817"/>
                <a:ext cx="10687723" cy="5552219"/>
              </a:xfrm>
              <a:prstGeom prst="rect">
                <a:avLst/>
              </a:prstGeom>
              <a:blipFill>
                <a:blip r:embed="rId3"/>
                <a:stretch>
                  <a:fillRect l="-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802B705A-3DCC-EC88-CA37-E54C728EE41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CA9A5CCA-4217-8564-A4FC-DE0154FACB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7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9C342EA-FA4E-9A14-8FF6-108B06AD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A6FE0E69-9B22-8B34-9FDA-C6F840E7F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benchmark – Concatenated Trap-k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DD1D3A7E-4AEB-E374-9BCD-775743CF476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66077" y="968842"/>
                <a:ext cx="10687723" cy="5552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sz="24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chuỗi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phân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có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bit.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concatenated trap-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ghép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nối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nhiều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trap-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liên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tiếp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nhau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. Ta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tìm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giá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trị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của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để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cực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đại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hóa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Concatenated Trap-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Trap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limLow>
                        <m:limLow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Trap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……</m:t>
                      </m:r>
                      <m:limLow>
                        <m:limLow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</a:rPr>
                            <m:t>Trap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b="1" dirty="0" err="1">
                    <a:solidFill>
                      <a:srgbClr val="FF0000"/>
                    </a:solidFill>
                    <a:latin typeface="+mj-lt"/>
                  </a:rPr>
                  <a:t>Ví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+mj-lt"/>
                  </a:rPr>
                  <a:t>dụ</a:t>
                </a:r>
                <a:r>
                  <a:rPr lang="en-US" sz="2400" b="1" dirty="0">
                    <a:solidFill>
                      <a:srgbClr val="FF0000"/>
                    </a:solidFill>
                    <a:latin typeface="+mj-lt"/>
                  </a:rPr>
                  <a:t>: </a:t>
                </a:r>
                <a:r>
                  <a:rPr lang="en-US" sz="2400" dirty="0" err="1">
                    <a:latin typeface="+mj-lt"/>
                  </a:rPr>
                  <a:t>Xét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hàm</a:t>
                </a:r>
                <a:r>
                  <a:rPr lang="en-US" sz="2400" dirty="0">
                    <a:latin typeface="+mj-lt"/>
                  </a:rPr>
                  <a:t> Concatenated Trap-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với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sz="2400" dirty="0">
                    <a:latin typeface="+mj-lt"/>
                  </a:rPr>
                  <a:t> bit </a:t>
                </a:r>
                <a:r>
                  <a:rPr lang="en-US" sz="2400" dirty="0" err="1">
                    <a:latin typeface="+mj-lt"/>
                  </a:rPr>
                  <a:t>và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latin typeface="+mj-lt"/>
                  </a:rPr>
                  <a:t> bit.</a:t>
                </a:r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endChr m:val="|"/>
                        <m:ctrlP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1111 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1111 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1111 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1111)=4+4+4+4=16</m:t>
                    </m:r>
                  </m:oMath>
                </a14:m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0111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11 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11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1)=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0+0+0+0=0</m:t>
                    </m:r>
                  </m:oMath>
                </a14:m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0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1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11 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1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01)=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2+3+4+1=10</m:t>
                    </m:r>
                  </m:oMath>
                </a14:m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endChr m:val="|"/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000 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0000 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US" sz="24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3+3+3+3</m:t>
                    </m:r>
                    <m:r>
                      <a:rPr lang="en-US" sz="2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:r>
                  <a:rPr lang="en-US" sz="2400" dirty="0" err="1">
                    <a:latin typeface="+mj-lt"/>
                  </a:rPr>
                  <a:t>Thuật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giải</a:t>
                </a:r>
                <a:r>
                  <a:rPr lang="en-US" sz="2400" dirty="0">
                    <a:latin typeface="+mj-lt"/>
                  </a:rPr>
                  <a:t> di </a:t>
                </a:r>
                <a:r>
                  <a:rPr lang="en-US" sz="2400" dirty="0" err="1">
                    <a:latin typeface="+mj-lt"/>
                  </a:rPr>
                  <a:t>truyền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bị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bẫy</a:t>
                </a:r>
                <a:r>
                  <a:rPr lang="en-US" sz="2400" dirty="0">
                    <a:latin typeface="+mj-lt"/>
                  </a:rPr>
                  <a:t>, </a:t>
                </a:r>
                <a:r>
                  <a:rPr lang="en-US" sz="2400" dirty="0" err="1">
                    <a:latin typeface="+mj-lt"/>
                  </a:rPr>
                  <a:t>tiến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hóa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theo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hướng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nhiều</a:t>
                </a:r>
                <a:r>
                  <a:rPr lang="en-US" sz="2400" dirty="0">
                    <a:latin typeface="+mj-lt"/>
                  </a:rPr>
                  <a:t> bit-0.</a:t>
                </a: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DD1D3A7E-4AEB-E374-9BCD-775743CF476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66077" y="968842"/>
                <a:ext cx="10687723" cy="5552219"/>
              </a:xfrm>
              <a:prstGeom prst="rect">
                <a:avLst/>
              </a:prstGeom>
              <a:blipFill>
                <a:blip r:embed="rId3"/>
                <a:stretch>
                  <a:fillRect l="-1026" r="-855" b="-1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63086B4C-7712-436C-2517-5A745F21E3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7EB82E29-C561-DD0A-57B0-20B9F6E05B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8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348AA82-4460-7308-E7F4-BC622429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33BB3037-F740-61F1-2C14-3C950F95B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119270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benchmark – </a:t>
            </a:r>
            <a:r>
              <a:rPr lang="en-US" dirty="0" err="1"/>
              <a:t>LeadingOnes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F72B6132-EF8F-2549-ECF1-8C763C57E4D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3677" y="918739"/>
                <a:ext cx="11084645" cy="5728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sz="26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chuỗi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nhị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phân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có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bit.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LeadingOnes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hàm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đếm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số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bit-1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liên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tiếp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nhau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dẫn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đầu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chuỗi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trước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khi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bit-0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đầu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tiên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xuất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hiện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  <a:p>
                <a:pPr marL="508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LeadingOnes</m:t>
                          </m:r>
                        </m:sub>
                      </m:sSub>
                      <m:d>
                        <m:dPr>
                          <m:ctrlPr>
                            <a:rPr lang="vi-VN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6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vi-VN" sz="2600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s-IS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vi-VN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vi-VN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vi-VN" sz="2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nary>
                            <m:naryPr>
                              <m:chr m:val="∏"/>
                              <m:ctrlPr>
                                <a:rPr lang="vi-VN" sz="26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6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6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600" b="1" dirty="0" err="1">
                    <a:solidFill>
                      <a:srgbClr val="FF0000"/>
                    </a:solidFill>
                    <a:latin typeface="+mj-lt"/>
                  </a:rPr>
                  <a:t>Ví</a:t>
                </a:r>
                <a:r>
                  <a:rPr lang="en-US" sz="2600" b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b="1" dirty="0" err="1">
                    <a:solidFill>
                      <a:srgbClr val="FF0000"/>
                    </a:solidFill>
                    <a:latin typeface="+mj-lt"/>
                  </a:rPr>
                  <a:t>dụ</a:t>
                </a:r>
                <a:r>
                  <a:rPr lang="en-US" sz="2600" b="1" dirty="0">
                    <a:solidFill>
                      <a:srgbClr val="FF0000"/>
                    </a:solidFill>
                    <a:latin typeface="+mj-lt"/>
                  </a:rPr>
                  <a:t>: </a:t>
                </a:r>
                <a:r>
                  <a:rPr lang="en-US" sz="2600" dirty="0" err="1">
                    <a:latin typeface="+mj-lt"/>
                  </a:rPr>
                  <a:t>Xét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hàm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LeadingOnes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với</a:t>
                </a:r>
                <a:r>
                  <a:rPr lang="en-US" sz="26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600" dirty="0">
                    <a:latin typeface="+mj-lt"/>
                  </a:rPr>
                  <a:t> bit.</a:t>
                </a:r>
                <a:endParaRPr lang="en-US" sz="26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(1111111111)=10</m:t>
                    </m:r>
                  </m:oMath>
                </a14:m>
                <a:r>
                  <a:rPr lang="en-US" sz="2600" b="0" i="1" dirty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(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tối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ưu</a:t>
                </a:r>
                <a:r>
                  <a:rPr lang="en-US" sz="2600" dirty="0">
                    <a:solidFill>
                      <a:schemeClr val="bg2">
                        <a:lumMod val="50000"/>
                      </a:schemeClr>
                    </a:solidFill>
                    <a:latin typeface="+mj-lt"/>
                  </a:rPr>
                  <a:t>)</a:t>
                </a: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(1111111110)=9</m:t>
                    </m:r>
                  </m:oMath>
                </a14:m>
                <a:endParaRPr lang="en-US" sz="2600" b="0" i="1" dirty="0">
                  <a:solidFill>
                    <a:schemeClr val="bg2">
                      <a:lumMod val="50000"/>
                    </a:schemeClr>
                  </a:solidFill>
                  <a:latin typeface="+mj-lt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11)=</m:t>
                    </m:r>
                    <m:r>
                      <a:rPr lang="en-US" sz="2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6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(0111111111)=0</m:t>
                    </m:r>
                  </m:oMath>
                </a14:m>
                <a:endParaRPr lang="en-US" sz="2600" b="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342900" indent="-342900"/>
                <a:r>
                  <a:rPr lang="en-US" sz="2600" dirty="0" err="1">
                    <a:latin typeface="+mj-lt"/>
                  </a:rPr>
                  <a:t>Quần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cần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duy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trì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độ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đa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dạng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đủ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DD4BE1"/>
                    </a:solidFill>
                    <a:latin typeface="+mj-lt"/>
                  </a:rPr>
                  <a:t>lâu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với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các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cá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chứa</a:t>
                </a:r>
                <a:r>
                  <a:rPr lang="en-US" sz="2600" dirty="0">
                    <a:latin typeface="+mj-lt"/>
                  </a:rPr>
                  <a:t> bit-1 ở </a:t>
                </a:r>
                <a:r>
                  <a:rPr lang="en-US" sz="2600" dirty="0" err="1">
                    <a:latin typeface="+mj-lt"/>
                  </a:rPr>
                  <a:t>cuối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có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tổ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hợp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ra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lời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giải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ưu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khi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các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cá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chứa</a:t>
                </a:r>
                <a:r>
                  <a:rPr lang="en-US" sz="2600" dirty="0">
                    <a:latin typeface="+mj-lt"/>
                  </a:rPr>
                  <a:t> bit-1 ở </a:t>
                </a:r>
                <a:r>
                  <a:rPr lang="en-US" sz="2600" dirty="0" err="1">
                    <a:latin typeface="+mj-lt"/>
                  </a:rPr>
                  <a:t>đầu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đã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hình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thành</a:t>
                </a:r>
                <a:r>
                  <a:rPr lang="en-US" sz="2600" dirty="0">
                    <a:latin typeface="+mj-lt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F72B6132-EF8F-2549-ECF1-8C763C57E4D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3677" y="918739"/>
                <a:ext cx="11084645" cy="5728870"/>
              </a:xfrm>
              <a:prstGeom prst="rect">
                <a:avLst/>
              </a:prstGeom>
              <a:blipFill>
                <a:blip r:embed="rId3"/>
                <a:stretch>
                  <a:fillRect l="-990" r="-8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72F30789-6485-2BA8-4676-68442288B33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6E7B0A1-38D0-86EC-D9D3-CBA48FD579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25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D873BFFE-9FEF-F64D-91DF-3BBE9B30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7F25E926-966D-5B0D-3CE2-D230E7426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119270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00BC5EF9-B5FE-C991-1436-34AF84403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3677" y="918739"/>
            <a:ext cx="11084645" cy="5728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/>
            <a:r>
              <a:rPr lang="en-US" sz="2400" dirty="0">
                <a:latin typeface="+mj-lt"/>
              </a:rPr>
              <a:t>Các </a:t>
            </a:r>
            <a:r>
              <a:rPr lang="en-US" sz="2400" dirty="0" err="1">
                <a:latin typeface="+mj-lt"/>
              </a:rPr>
              <a:t>bài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toán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tối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ưu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có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sẵn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lời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giải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tối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ưu</a:t>
            </a:r>
            <a:r>
              <a:rPr lang="en-US" sz="2400" dirty="0">
                <a:latin typeface="+mj-lt"/>
              </a:rPr>
              <a:t> (</a:t>
            </a:r>
            <a:r>
              <a:rPr lang="en-US" sz="2400" dirty="0" err="1">
                <a:latin typeface="+mj-lt"/>
              </a:rPr>
              <a:t>dễ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dàng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kiểm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tra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tính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tối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ưu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của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lời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giải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tìm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được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bởi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thuật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toán</a:t>
            </a:r>
            <a:r>
              <a:rPr lang="en-US" sz="2400" dirty="0">
                <a:latin typeface="+mj-lt"/>
              </a:rPr>
              <a:t>).</a:t>
            </a:r>
          </a:p>
          <a:p>
            <a:pPr marL="342900" indent="-342900"/>
            <a:r>
              <a:rPr lang="en-US" sz="2400" dirty="0">
                <a:latin typeface="+mj-lt"/>
              </a:rPr>
              <a:t>Các </a:t>
            </a:r>
            <a:r>
              <a:rPr lang="en-US" sz="2400" dirty="0" err="1">
                <a:latin typeface="+mj-lt"/>
              </a:rPr>
              <a:t>bài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toán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tối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ưu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hóa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có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thể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dễ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dàng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phát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sinh</a:t>
            </a:r>
            <a:r>
              <a:rPr lang="en-US" sz="2400" dirty="0">
                <a:latin typeface="+mj-lt"/>
              </a:rPr>
              <a:t> test cases </a:t>
            </a:r>
            <a:r>
              <a:rPr lang="en-US" sz="2400" dirty="0" err="1">
                <a:latin typeface="+mj-lt"/>
              </a:rPr>
              <a:t>với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kích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thước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tăng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dần</a:t>
            </a:r>
            <a:r>
              <a:rPr lang="en-US" sz="2400" dirty="0">
                <a:latin typeface="+mj-lt"/>
              </a:rPr>
              <a:t> (</a:t>
            </a:r>
            <a:r>
              <a:rPr lang="en-US" sz="2400" dirty="0" err="1">
                <a:latin typeface="+mj-lt"/>
              </a:rPr>
              <a:t>tính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chất</a:t>
            </a:r>
            <a:r>
              <a:rPr lang="en-US" sz="2400" dirty="0">
                <a:latin typeface="+mj-lt"/>
              </a:rPr>
              <a:t> scalability).</a:t>
            </a:r>
          </a:p>
          <a:p>
            <a:pPr marL="342900" indent="-342900"/>
            <a:r>
              <a:rPr lang="en-US" sz="2400" dirty="0" err="1">
                <a:latin typeface="+mj-lt"/>
              </a:rPr>
              <a:t>Sử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dụng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hàm</a:t>
            </a:r>
            <a:r>
              <a:rPr lang="en-US" sz="2400" dirty="0">
                <a:latin typeface="+mj-lt"/>
              </a:rPr>
              <a:t> benchmark </a:t>
            </a:r>
            <a:r>
              <a:rPr lang="en-US" sz="2400" dirty="0" err="1">
                <a:latin typeface="+mj-lt"/>
              </a:rPr>
              <a:t>để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đánh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giá</a:t>
            </a:r>
            <a:r>
              <a:rPr lang="en-US" sz="2400" dirty="0">
                <a:latin typeface="+mj-lt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Hiệu </a:t>
            </a:r>
            <a:r>
              <a:rPr lang="en-US" sz="2400" dirty="0" err="1">
                <a:latin typeface="+mj-lt"/>
              </a:rPr>
              <a:t>quả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của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thuật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toán</a:t>
            </a:r>
            <a:r>
              <a:rPr lang="en-US" sz="2400" dirty="0">
                <a:latin typeface="+mj-lt"/>
              </a:rPr>
              <a:t> (effectiveness).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Hiệu </a:t>
            </a:r>
            <a:r>
              <a:rPr lang="en-US" sz="2400" dirty="0" err="1">
                <a:latin typeface="+mj-lt"/>
              </a:rPr>
              <a:t>suất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của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thuật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toán</a:t>
            </a:r>
            <a:r>
              <a:rPr lang="en-US" sz="2400" dirty="0">
                <a:latin typeface="+mj-lt"/>
              </a:rPr>
              <a:t> (efficiency).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+mj-lt"/>
              </a:rPr>
              <a:t>Khả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năng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mở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rộng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của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các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thuật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toán</a:t>
            </a:r>
            <a:r>
              <a:rPr lang="en-US" sz="2400" dirty="0">
                <a:latin typeface="+mj-lt"/>
              </a:rPr>
              <a:t> (scalability).</a:t>
            </a:r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ED584112-4AE2-CEAC-E951-3813472E9EE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7B4413AE-F094-3FF7-207D-3EA6B8BAB0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537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94C2ADF-A6C0-E854-2DB5-F3163392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2EEFF74E-9D5C-0353-BFB0-53FC15F90B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119270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0CA7C24-F177-5960-25C9-A1419F8F870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3677" y="918739"/>
                <a:ext cx="11084645" cy="5728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 indent="-342900"/>
                <a:r>
                  <a:rPr lang="en-US" sz="2400" dirty="0">
                    <a:latin typeface="+mj-lt"/>
                  </a:rPr>
                  <a:t>Mỗi </a:t>
                </a:r>
                <a:r>
                  <a:rPr lang="en-US" sz="2400" dirty="0" err="1">
                    <a:latin typeface="+mj-lt"/>
                  </a:rPr>
                  <a:t>thuật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toán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tiến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hóa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khác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nhau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yêu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cầu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cấu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hình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tham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số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điều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khiển</a:t>
                </a:r>
                <a:r>
                  <a:rPr lang="en-US" sz="2400" dirty="0">
                    <a:latin typeface="+mj-lt"/>
                  </a:rPr>
                  <a:t> (control parameter settings) </a:t>
                </a:r>
                <a:r>
                  <a:rPr lang="en-US" sz="2400" dirty="0" err="1">
                    <a:latin typeface="+mj-lt"/>
                  </a:rPr>
                  <a:t>khác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nhau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cho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mỗi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bài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toán</a:t>
                </a:r>
                <a:r>
                  <a:rPr lang="en-US" sz="2400" dirty="0">
                    <a:latin typeface="+mj-lt"/>
                  </a:rPr>
                  <a:t>.</a:t>
                </a:r>
              </a:p>
              <a:p>
                <a:pPr marL="342900" indent="-342900"/>
                <a:r>
                  <a:rPr lang="en-US" sz="2400" dirty="0" err="1">
                    <a:latin typeface="+mj-lt"/>
                  </a:rPr>
                  <a:t>Mỗi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cấu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hình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thuật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toán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khác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nhau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có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yêu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cầu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tài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nguyên</a:t>
                </a:r>
                <a:r>
                  <a:rPr lang="en-US" sz="2400" dirty="0">
                    <a:latin typeface="+mj-lt"/>
                  </a:rPr>
                  <a:t> / chi </a:t>
                </a:r>
                <a:r>
                  <a:rPr lang="en-US" sz="2400" dirty="0" err="1">
                    <a:latin typeface="+mj-lt"/>
                  </a:rPr>
                  <a:t>phí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tính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toán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khác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nhau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tìm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ra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được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lời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giải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tối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ưu</a:t>
                </a:r>
                <a:r>
                  <a:rPr lang="en-US" sz="2400" dirty="0">
                    <a:latin typeface="+mj-lt"/>
                  </a:rPr>
                  <a:t> (</a:t>
                </a:r>
                <a:r>
                  <a:rPr lang="en-US" sz="2400" dirty="0" err="1">
                    <a:latin typeface="+mj-lt"/>
                  </a:rPr>
                  <a:t>hoặc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lời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giải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tốt</a:t>
                </a:r>
                <a:r>
                  <a:rPr lang="en-US" sz="2400" dirty="0">
                    <a:latin typeface="+mj-lt"/>
                  </a:rPr>
                  <a:t>).</a:t>
                </a:r>
              </a:p>
              <a:p>
                <a:pPr marL="342900" indent="-342900"/>
                <a:r>
                  <a:rPr lang="en-US" sz="2400" dirty="0">
                    <a:latin typeface="+mj-lt"/>
                  </a:rPr>
                  <a:t>Khi </a:t>
                </a:r>
                <a:r>
                  <a:rPr lang="en-US" sz="2400" dirty="0" err="1">
                    <a:latin typeface="+mj-lt"/>
                  </a:rPr>
                  <a:t>phân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tích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hiệu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suất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thuật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toán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tiến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hóa</a:t>
                </a:r>
                <a:r>
                  <a:rPr lang="en-US" sz="2400" dirty="0">
                    <a:latin typeface="+mj-lt"/>
                  </a:rPr>
                  <a:t>, </a:t>
                </a:r>
                <a:r>
                  <a:rPr lang="en-US" sz="2400" dirty="0" err="1">
                    <a:latin typeface="+mj-lt"/>
                  </a:rPr>
                  <a:t>để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tránh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phụ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thuộc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vào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các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cấu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hình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phần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cứng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máy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tính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cụ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, ta </a:t>
                </a:r>
                <a:r>
                  <a:rPr lang="en-US" sz="2400" dirty="0" err="1">
                    <a:latin typeface="+mj-lt"/>
                  </a:rPr>
                  <a:t>thường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sử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dụng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+mj-lt"/>
                  </a:rPr>
                  <a:t>số</a:t>
                </a:r>
                <a:r>
                  <a:rPr lang="en-US" sz="2400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+mj-lt"/>
                  </a:rPr>
                  <a:t>lần</a:t>
                </a:r>
                <a:r>
                  <a:rPr lang="en-US" sz="2400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+mj-lt"/>
                  </a:rPr>
                  <a:t>gọi</a:t>
                </a:r>
                <a:r>
                  <a:rPr lang="en-US" sz="2400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+mj-lt"/>
                  </a:rPr>
                  <a:t>hàm</a:t>
                </a:r>
                <a:r>
                  <a:rPr lang="en-US" sz="2400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+mj-lt"/>
                  </a:rPr>
                  <a:t>đánh</a:t>
                </a:r>
                <a:r>
                  <a:rPr lang="en-US" sz="2400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+mj-lt"/>
                  </a:rPr>
                  <a:t>giá</a:t>
                </a:r>
                <a:r>
                  <a:rPr lang="en-US" sz="2400" i="1" dirty="0">
                    <a:solidFill>
                      <a:srgbClr val="FF0000"/>
                    </a:solidFill>
                    <a:latin typeface="+mj-lt"/>
                  </a:rPr>
                  <a:t> (number of evaluations)</a:t>
                </a:r>
                <a:r>
                  <a:rPr lang="en-US" sz="2400" dirty="0">
                    <a:latin typeface="+mj-lt"/>
                  </a:rPr>
                  <a:t>, hay </a:t>
                </a:r>
                <a:r>
                  <a:rPr lang="en-US" sz="2400" dirty="0" err="1">
                    <a:latin typeface="+mj-lt"/>
                  </a:rPr>
                  <a:t>số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lần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hàm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tính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độ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thích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nghi</a:t>
                </a:r>
                <a:r>
                  <a:rPr lang="en-US" sz="2400" dirty="0">
                    <a:latin typeface="+mj-lt"/>
                  </a:rPr>
                  <a:t> (number of fitness function calls), </a:t>
                </a:r>
                <a:r>
                  <a:rPr lang="en-US" sz="2400" dirty="0" err="1">
                    <a:latin typeface="+mj-lt"/>
                  </a:rPr>
                  <a:t>làm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độ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đo</a:t>
                </a:r>
                <a:r>
                  <a:rPr lang="en-US" sz="2400" dirty="0">
                    <a:latin typeface="+mj-lt"/>
                  </a:rPr>
                  <a:t> chi </a:t>
                </a:r>
                <a:r>
                  <a:rPr lang="en-US" sz="2400" dirty="0" err="1">
                    <a:latin typeface="+mj-lt"/>
                  </a:rPr>
                  <a:t>phí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tính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toán</a:t>
                </a:r>
                <a:r>
                  <a:rPr lang="en-US" sz="2400" dirty="0">
                    <a:latin typeface="+mj-lt"/>
                  </a:rPr>
                  <a:t> (computing cost).</a:t>
                </a:r>
              </a:p>
              <a:p>
                <a:pPr marL="342900" indent="-342900"/>
                <a:r>
                  <a:rPr lang="en-US" sz="2400" dirty="0" err="1">
                    <a:latin typeface="+mj-lt"/>
                  </a:rPr>
                  <a:t>Số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lần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gọi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hàm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đánh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giá</a:t>
                </a:r>
                <a:r>
                  <a:rPr lang="en-US" sz="2400" dirty="0">
                    <a:latin typeface="+mj-lt"/>
                  </a:rPr>
                  <a:t> (number of evaluations)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số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cá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thể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được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đánh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giá</a:t>
                </a: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số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lời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giải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ứng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viên</a:t>
                </a:r>
                <a:r>
                  <a:rPr lang="en-US" sz="2400" dirty="0">
                    <a:latin typeface="+mj-lt"/>
                  </a:rPr>
                  <a:t> (number of candidate solutions) </a:t>
                </a:r>
                <a:r>
                  <a:rPr lang="en-US" sz="2400" dirty="0" err="1">
                    <a:latin typeface="+mj-lt"/>
                  </a:rPr>
                  <a:t>được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kiểm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err="1">
                    <a:latin typeface="+mj-lt"/>
                  </a:rPr>
                  <a:t>tra</a:t>
                </a:r>
                <a:r>
                  <a:rPr lang="en-US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00CA7C24-F177-5960-25C9-A1419F8F870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3677" y="918739"/>
                <a:ext cx="11084645" cy="5728870"/>
              </a:xfrm>
              <a:prstGeom prst="rect">
                <a:avLst/>
              </a:prstGeom>
              <a:blipFill>
                <a:blip r:embed="rId3"/>
                <a:stretch>
                  <a:fillRect l="-990" r="-8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721B787-F925-DDF8-F647-183EB5708BD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E05FA9B-C028-9A22-CBC0-6914E0048B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246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5C4A366F-5CE9-D97F-884D-79EF54FE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725EB988-EA0B-14DC-13FF-4976FA8B7C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119270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5300BC6-FBF3-4ED1-5A5C-A24F3F0D9F4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3677" y="918739"/>
                <a:ext cx="11084645" cy="5728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70000" lnSpcReduction="20000"/>
              </a:bodyPr>
              <a:lstStyle/>
              <a:p>
                <a:pPr marL="342900" indent="-342900"/>
                <a:r>
                  <a:rPr lang="en-US" sz="2900" dirty="0">
                    <a:latin typeface="+mj-lt"/>
                  </a:rPr>
                  <a:t>Một </a:t>
                </a:r>
                <a:r>
                  <a:rPr lang="en-US" sz="2900" dirty="0">
                    <a:solidFill>
                      <a:schemeClr val="accent1"/>
                    </a:solidFill>
                    <a:latin typeface="+mj-lt"/>
                  </a:rPr>
                  <a:t>(</a:t>
                </a:r>
                <a:r>
                  <a:rPr lang="en-US" sz="2900" dirty="0" err="1">
                    <a:solidFill>
                      <a:schemeClr val="accent1"/>
                    </a:solidFill>
                    <a:latin typeface="+mj-lt"/>
                  </a:rPr>
                  <a:t>cấu</a:t>
                </a:r>
                <a:r>
                  <a:rPr lang="en-US" sz="29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chemeClr val="accent1"/>
                    </a:solidFill>
                    <a:latin typeface="+mj-lt"/>
                  </a:rPr>
                  <a:t>hình</a:t>
                </a:r>
                <a:r>
                  <a:rPr lang="en-US" sz="2900" dirty="0">
                    <a:solidFill>
                      <a:schemeClr val="accent1"/>
                    </a:solidFill>
                    <a:latin typeface="+mj-lt"/>
                  </a:rPr>
                  <a:t>) </a:t>
                </a:r>
                <a:r>
                  <a:rPr lang="en-US" sz="2900" dirty="0" err="1">
                    <a:solidFill>
                      <a:schemeClr val="accent1"/>
                    </a:solidFill>
                    <a:latin typeface="+mj-lt"/>
                  </a:rPr>
                  <a:t>thuật</a:t>
                </a:r>
                <a:r>
                  <a:rPr lang="en-US" sz="29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chemeClr val="accent1"/>
                    </a:solidFill>
                    <a:latin typeface="+mj-lt"/>
                  </a:rPr>
                  <a:t>toán</a:t>
                </a:r>
                <a:r>
                  <a:rPr lang="en-US" sz="29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900" dirty="0">
                    <a:latin typeface="+mj-lt"/>
                  </a:rPr>
                  <a:t>(</a:t>
                </a:r>
                <a:r>
                  <a:rPr lang="en-US" sz="2900" dirty="0" err="1">
                    <a:latin typeface="+mj-lt"/>
                  </a:rPr>
                  <a:t>ví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dụ</a:t>
                </a:r>
                <a:r>
                  <a:rPr lang="en-US" sz="2900" dirty="0">
                    <a:latin typeface="+mj-lt"/>
                  </a:rPr>
                  <a:t>: GA/Roulette/UX) </a:t>
                </a:r>
                <a:r>
                  <a:rPr lang="en-US" sz="2900" dirty="0" err="1">
                    <a:latin typeface="+mj-lt"/>
                  </a:rPr>
                  <a:t>cần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sử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dụng</a:t>
                </a:r>
                <a:r>
                  <a:rPr lang="en-US" sz="2900" dirty="0">
                    <a:latin typeface="+mj-lt"/>
                  </a:rPr>
                  <a:t> (</a:t>
                </a:r>
                <a:r>
                  <a:rPr lang="en-US" sz="2900" dirty="0" err="1">
                    <a:latin typeface="+mj-lt"/>
                  </a:rPr>
                  <a:t>trung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bình</a:t>
                </a:r>
                <a:r>
                  <a:rPr lang="en-US" sz="2900" dirty="0">
                    <a:latin typeface="+mj-lt"/>
                  </a:rPr>
                  <a:t>) 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bao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nhiêu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lần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gọi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hàm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đánh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giá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để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tìm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ra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lời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giải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tối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ưu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cho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bài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OneMax</a:t>
                </a:r>
                <a:r>
                  <a:rPr lang="en-US" sz="2900" dirty="0">
                    <a:latin typeface="+mj-lt"/>
                  </a:rPr>
                  <a:t> 10 bit? 20 bit? 40 bit? 80 bit? 160 bit? …</a:t>
                </a:r>
              </a:p>
              <a:p>
                <a:pPr marL="342900" indent="-342900"/>
                <a:r>
                  <a:rPr lang="en-US" sz="2900" dirty="0" err="1">
                    <a:latin typeface="+mj-lt"/>
                  </a:rPr>
                  <a:t>Nếu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sử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dụng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một</a:t>
                </a:r>
                <a:r>
                  <a:rPr lang="en-US" sz="2900" dirty="0">
                    <a:latin typeface="+mj-lt"/>
                  </a:rPr>
                  <a:t> (</a:t>
                </a:r>
                <a:r>
                  <a:rPr lang="en-US" sz="2900" dirty="0" err="1">
                    <a:latin typeface="+mj-lt"/>
                  </a:rPr>
                  <a:t>cấu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hình</a:t>
                </a:r>
                <a:r>
                  <a:rPr lang="en-US" sz="2900" dirty="0">
                    <a:latin typeface="+mj-lt"/>
                  </a:rPr>
                  <a:t>) </a:t>
                </a:r>
                <a:r>
                  <a:rPr lang="en-US" sz="2900" dirty="0" err="1">
                    <a:latin typeface="+mj-lt"/>
                  </a:rPr>
                  <a:t>thuật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khác</a:t>
                </a:r>
                <a:r>
                  <a:rPr lang="en-US" sz="2900" dirty="0">
                    <a:latin typeface="+mj-lt"/>
                  </a:rPr>
                  <a:t> (</a:t>
                </a:r>
                <a:r>
                  <a:rPr lang="en-US" sz="2900" dirty="0" err="1">
                    <a:latin typeface="+mj-lt"/>
                  </a:rPr>
                  <a:t>ví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dụ</a:t>
                </a:r>
                <a:r>
                  <a:rPr lang="en-US" sz="2900" dirty="0">
                    <a:latin typeface="+mj-lt"/>
                  </a:rPr>
                  <a:t>: GA/Tournament/2X) </a:t>
                </a:r>
                <a:r>
                  <a:rPr lang="en-US" sz="2900" dirty="0" err="1">
                    <a:latin typeface="+mj-lt"/>
                  </a:rPr>
                  <a:t>thì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sao</a:t>
                </a:r>
                <a:r>
                  <a:rPr lang="en-US" sz="2900" dirty="0">
                    <a:latin typeface="+mj-lt"/>
                  </a:rPr>
                  <a:t>?</a:t>
                </a:r>
              </a:p>
              <a:p>
                <a:pPr marL="342900" indent="-342900"/>
                <a:r>
                  <a:rPr lang="en-US" sz="2900" dirty="0" err="1">
                    <a:solidFill>
                      <a:srgbClr val="FF0000"/>
                    </a:solidFill>
                    <a:latin typeface="+mj-lt"/>
                  </a:rPr>
                  <a:t>Kích</a:t>
                </a:r>
                <a:r>
                  <a:rPr lang="en-US" sz="29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+mj-lt"/>
                  </a:rPr>
                  <a:t>thước</a:t>
                </a:r>
                <a:r>
                  <a:rPr lang="en-US" sz="29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+mj-lt"/>
                  </a:rPr>
                  <a:t>quần</a:t>
                </a:r>
                <a:r>
                  <a:rPr lang="en-US" sz="29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+mj-lt"/>
                  </a:rPr>
                  <a:t>thể</a:t>
                </a:r>
                <a:r>
                  <a:rPr lang="en-US" sz="2900" dirty="0">
                    <a:solidFill>
                      <a:srgbClr val="FF0000"/>
                    </a:solidFill>
                    <a:latin typeface="+mj-lt"/>
                  </a:rPr>
                  <a:t> (population size) </a:t>
                </a:r>
                <a:r>
                  <a:rPr lang="en-US" sz="2900" dirty="0" err="1">
                    <a:latin typeface="+mj-lt"/>
                  </a:rPr>
                  <a:t>là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tham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số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điều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khiển</a:t>
                </a:r>
                <a:r>
                  <a:rPr lang="en-US" sz="2900" dirty="0">
                    <a:latin typeface="+mj-lt"/>
                  </a:rPr>
                  <a:t> (control parameter) </a:t>
                </a:r>
                <a:r>
                  <a:rPr lang="en-US" sz="2900" dirty="0" err="1">
                    <a:latin typeface="+mj-lt"/>
                  </a:rPr>
                  <a:t>quan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trọng</a:t>
                </a:r>
                <a:r>
                  <a:rPr lang="en-US" sz="2900" dirty="0">
                    <a:latin typeface="+mj-lt"/>
                  </a:rPr>
                  <a:t>, </a:t>
                </a:r>
                <a:r>
                  <a:rPr lang="en-US" sz="2900" dirty="0" err="1">
                    <a:latin typeface="+mj-lt"/>
                  </a:rPr>
                  <a:t>ảnh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hưởng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trực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tiếp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đến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độ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đa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dạng</a:t>
                </a:r>
                <a:r>
                  <a:rPr lang="en-US" sz="2900" dirty="0">
                    <a:latin typeface="+mj-lt"/>
                  </a:rPr>
                  <a:t> (diversity)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và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khả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năng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một</a:t>
                </a:r>
                <a:r>
                  <a:rPr lang="en-US" sz="2900" dirty="0">
                    <a:latin typeface="+mj-lt"/>
                  </a:rPr>
                  <a:t> (</a:t>
                </a:r>
                <a:r>
                  <a:rPr lang="en-US" sz="2900" dirty="0" err="1">
                    <a:latin typeface="+mj-lt"/>
                  </a:rPr>
                  <a:t>cấu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hình</a:t>
                </a:r>
                <a:r>
                  <a:rPr lang="en-US" sz="2900" dirty="0">
                    <a:latin typeface="+mj-lt"/>
                  </a:rPr>
                  <a:t>) </a:t>
                </a:r>
                <a:r>
                  <a:rPr lang="en-US" sz="2900" dirty="0" err="1">
                    <a:latin typeface="+mj-lt"/>
                  </a:rPr>
                  <a:t>thuật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tiến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hóa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có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tìm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được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lời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giải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tối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ưu</a:t>
                </a:r>
                <a:r>
                  <a:rPr lang="en-US" sz="2900" dirty="0">
                    <a:latin typeface="+mj-lt"/>
                  </a:rPr>
                  <a:t> hay </a:t>
                </a:r>
                <a:r>
                  <a:rPr lang="en-US" sz="2900" dirty="0" err="1">
                    <a:latin typeface="+mj-lt"/>
                  </a:rPr>
                  <a:t>không</a:t>
                </a:r>
                <a:r>
                  <a:rPr lang="en-US" sz="2900" dirty="0">
                    <a:latin typeface="+mj-lt"/>
                  </a:rPr>
                  <a:t>?</a:t>
                </a:r>
              </a:p>
              <a:p>
                <a:pPr marL="342900" indent="-342900"/>
                <a:r>
                  <a:rPr lang="en-US" sz="2900" dirty="0">
                    <a:latin typeface="+mj-lt"/>
                  </a:rPr>
                  <a:t>Khi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kích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thước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bài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toán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(problem size) </a:t>
                </a:r>
                <a:r>
                  <a:rPr lang="en-US" sz="2900" dirty="0" err="1">
                    <a:latin typeface="+mj-lt"/>
                  </a:rPr>
                  <a:t>lớn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thì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thuật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yêu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cầu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lớn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hơn</a:t>
                </a:r>
                <a:r>
                  <a:rPr lang="en-US" sz="2900" dirty="0">
                    <a:latin typeface="+mj-lt"/>
                  </a:rPr>
                  <a:t> so </a:t>
                </a:r>
                <a:r>
                  <a:rPr lang="en-US" sz="2900" dirty="0" err="1">
                    <a:latin typeface="+mj-lt"/>
                  </a:rPr>
                  <a:t>với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khi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giải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bài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có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nhỏ</a:t>
                </a:r>
                <a:r>
                  <a:rPr lang="en-US" sz="2900" dirty="0">
                    <a:latin typeface="+mj-lt"/>
                  </a:rPr>
                  <a:t>. </a:t>
                </a:r>
                <a:r>
                  <a:rPr lang="en-US" sz="2900" b="1" dirty="0" err="1">
                    <a:latin typeface="+mj-lt"/>
                  </a:rPr>
                  <a:t>Ví</a:t>
                </a:r>
                <a:r>
                  <a:rPr lang="en-US" sz="2900" b="1" dirty="0">
                    <a:latin typeface="+mj-lt"/>
                  </a:rPr>
                  <a:t> </a:t>
                </a:r>
                <a:r>
                  <a:rPr lang="en-US" sz="2900" b="1" dirty="0" err="1">
                    <a:latin typeface="+mj-lt"/>
                  </a:rPr>
                  <a:t>dụ</a:t>
                </a:r>
                <a:r>
                  <a:rPr lang="en-US" sz="2900" b="1" dirty="0">
                    <a:latin typeface="+mj-lt"/>
                  </a:rPr>
                  <a:t>: </a:t>
                </a:r>
                <a:r>
                  <a:rPr lang="en-US" sz="2900" dirty="0" err="1">
                    <a:latin typeface="+mj-lt"/>
                  </a:rPr>
                  <a:t>OneMax</a:t>
                </a:r>
                <a:r>
                  <a:rPr lang="en-US" sz="29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=160</m:t>
                    </m:r>
                  </m:oMath>
                </a14:m>
                <a:r>
                  <a:rPr lang="en-US" sz="2900" dirty="0">
                    <a:latin typeface="+mj-lt"/>
                  </a:rPr>
                  <a:t> bit </a:t>
                </a:r>
                <a:r>
                  <a:rPr lang="en-US" sz="2900" dirty="0" err="1">
                    <a:latin typeface="+mj-lt"/>
                  </a:rPr>
                  <a:t>đòi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hỏi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lớn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hơn</a:t>
                </a:r>
                <a:r>
                  <a:rPr lang="en-US" sz="2900" dirty="0">
                    <a:latin typeface="+mj-lt"/>
                  </a:rPr>
                  <a:t> so </a:t>
                </a:r>
                <a:r>
                  <a:rPr lang="en-US" sz="2900" dirty="0" err="1">
                    <a:latin typeface="+mj-lt"/>
                  </a:rPr>
                  <a:t>với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OneMax</a:t>
                </a:r>
                <a:r>
                  <a:rPr lang="en-US" sz="29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900" b="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900" dirty="0">
                    <a:latin typeface="+mj-lt"/>
                  </a:rPr>
                  <a:t> bit.</a:t>
                </a:r>
              </a:p>
              <a:p>
                <a:pPr marL="342900" indent="-342900"/>
                <a:r>
                  <a:rPr lang="en-US" sz="2900" dirty="0" err="1">
                    <a:latin typeface="+mj-lt"/>
                  </a:rPr>
                  <a:t>Bài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có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độ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phức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solidFill>
                      <a:srgbClr val="DD4BE1"/>
                    </a:solidFill>
                    <a:latin typeface="+mj-lt"/>
                  </a:rPr>
                  <a:t>tạp</a:t>
                </a:r>
                <a:r>
                  <a:rPr lang="en-US" sz="2900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cao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đòi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hỏi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lớn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hơn</a:t>
                </a:r>
                <a:r>
                  <a:rPr lang="en-US" sz="2900" dirty="0">
                    <a:latin typeface="+mj-lt"/>
                  </a:rPr>
                  <a:t> so </a:t>
                </a:r>
                <a:r>
                  <a:rPr lang="en-US" sz="2900" dirty="0" err="1">
                    <a:latin typeface="+mj-lt"/>
                  </a:rPr>
                  <a:t>với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khi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giải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bài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giản</a:t>
                </a:r>
                <a:r>
                  <a:rPr lang="en-US" sz="2900" dirty="0">
                    <a:latin typeface="+mj-lt"/>
                  </a:rPr>
                  <a:t>. </a:t>
                </a:r>
                <a:r>
                  <a:rPr lang="en-US" sz="2900" b="1" dirty="0" err="1">
                    <a:latin typeface="+mj-lt"/>
                  </a:rPr>
                  <a:t>Ví</a:t>
                </a:r>
                <a:r>
                  <a:rPr lang="en-US" sz="2900" b="1" dirty="0">
                    <a:latin typeface="+mj-lt"/>
                  </a:rPr>
                  <a:t> </a:t>
                </a:r>
                <a:r>
                  <a:rPr lang="en-US" sz="2900" b="1" dirty="0" err="1">
                    <a:latin typeface="+mj-lt"/>
                  </a:rPr>
                  <a:t>dụ</a:t>
                </a:r>
                <a:r>
                  <a:rPr lang="en-US" sz="2900" b="1" dirty="0">
                    <a:latin typeface="+mj-lt"/>
                  </a:rPr>
                  <a:t>: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LeadingOnes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và</a:t>
                </a:r>
                <a:r>
                  <a:rPr lang="en-US" sz="2900" dirty="0">
                    <a:latin typeface="+mj-lt"/>
                  </a:rPr>
                  <a:t> Concatenated Trap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yêu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cầu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lớn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hơn</a:t>
                </a:r>
                <a:r>
                  <a:rPr lang="en-US" sz="2900" dirty="0">
                    <a:latin typeface="+mj-lt"/>
                  </a:rPr>
                  <a:t> so </a:t>
                </a:r>
                <a:r>
                  <a:rPr lang="en-US" sz="2900" dirty="0" err="1">
                    <a:latin typeface="+mj-lt"/>
                  </a:rPr>
                  <a:t>với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OneMax</a:t>
                </a:r>
                <a:r>
                  <a:rPr lang="en-US" sz="2900" dirty="0">
                    <a:latin typeface="+mj-lt"/>
                  </a:rPr>
                  <a:t>.</a:t>
                </a:r>
              </a:p>
              <a:p>
                <a:pPr marL="342900" indent="-342900"/>
                <a:r>
                  <a:rPr lang="en-US" sz="2900" dirty="0" err="1">
                    <a:latin typeface="+mj-lt"/>
                  </a:rPr>
                  <a:t>Mỗi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bài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cụ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(problem instance), </a:t>
                </a:r>
                <a:r>
                  <a:rPr lang="en-US" sz="2900" dirty="0" err="1">
                    <a:latin typeface="+mj-lt"/>
                  </a:rPr>
                  <a:t>ví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dụ</a:t>
                </a:r>
                <a:r>
                  <a:rPr lang="en-US" sz="2900" dirty="0">
                    <a:latin typeface="+mj-lt"/>
                  </a:rPr>
                  <a:t> Concatenated Trap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với</a:t>
                </a:r>
                <a:r>
                  <a:rPr lang="en-US" sz="29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2900" dirty="0">
                    <a:latin typeface="+mj-lt"/>
                  </a:rPr>
                  <a:t> bit </a:t>
                </a:r>
                <a:r>
                  <a:rPr lang="en-US" sz="2900" dirty="0" err="1">
                    <a:latin typeface="+mj-lt"/>
                  </a:rPr>
                  <a:t>và</a:t>
                </a:r>
                <a:r>
                  <a:rPr lang="en-US" sz="29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900" dirty="0">
                    <a:latin typeface="+mj-lt"/>
                  </a:rPr>
                  <a:t>, </a:t>
                </a:r>
                <a:r>
                  <a:rPr lang="en-US" sz="2900" dirty="0" err="1">
                    <a:latin typeface="+mj-lt"/>
                  </a:rPr>
                  <a:t>thì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một</a:t>
                </a:r>
                <a:r>
                  <a:rPr lang="en-US" sz="2900" dirty="0">
                    <a:latin typeface="+mj-lt"/>
                  </a:rPr>
                  <a:t> (</a:t>
                </a:r>
                <a:r>
                  <a:rPr lang="en-US" sz="2900" dirty="0" err="1">
                    <a:latin typeface="+mj-lt"/>
                  </a:rPr>
                  <a:t>cấu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hình</a:t>
                </a:r>
                <a:r>
                  <a:rPr lang="en-US" sz="2900" dirty="0">
                    <a:latin typeface="+mj-lt"/>
                  </a:rPr>
                  <a:t>) </a:t>
                </a:r>
                <a:r>
                  <a:rPr lang="en-US" sz="2900" dirty="0" err="1">
                    <a:latin typeface="+mj-lt"/>
                  </a:rPr>
                  <a:t>thuật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tiến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hóa</a:t>
                </a:r>
                <a:r>
                  <a:rPr lang="en-US" sz="2900" dirty="0">
                    <a:latin typeface="+mj-lt"/>
                  </a:rPr>
                  <a:t>, </a:t>
                </a:r>
                <a:r>
                  <a:rPr lang="en-US" sz="2900" dirty="0" err="1">
                    <a:latin typeface="+mj-lt"/>
                  </a:rPr>
                  <a:t>ví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dụ</a:t>
                </a:r>
                <a:r>
                  <a:rPr lang="en-US" sz="2900" dirty="0">
                    <a:latin typeface="+mj-lt"/>
                  </a:rPr>
                  <a:t>: GA/Tournament/1X, </a:t>
                </a:r>
                <a:r>
                  <a:rPr lang="en-US" sz="2900" dirty="0" err="1">
                    <a:latin typeface="+mj-lt"/>
                  </a:rPr>
                  <a:t>cần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  <a:latin typeface="+mj-lt"/>
                  </a:rPr>
                  <a:t>kích</a:t>
                </a:r>
                <a:r>
                  <a:rPr lang="en-US" sz="29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  <a:latin typeface="+mj-lt"/>
                  </a:rPr>
                  <a:t>thước</a:t>
                </a:r>
                <a:r>
                  <a:rPr lang="en-US" sz="29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  <a:latin typeface="+mj-lt"/>
                  </a:rPr>
                  <a:t>quần</a:t>
                </a:r>
                <a:r>
                  <a:rPr lang="en-US" sz="29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  <a:latin typeface="+mj-lt"/>
                  </a:rPr>
                  <a:t>thể</a:t>
                </a:r>
                <a:r>
                  <a:rPr lang="en-US" sz="29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  <a:latin typeface="+mj-lt"/>
                  </a:rPr>
                  <a:t>tối</a:t>
                </a:r>
                <a:r>
                  <a:rPr lang="en-US" sz="29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  <a:latin typeface="+mj-lt"/>
                  </a:rPr>
                  <a:t>thiểu</a:t>
                </a:r>
                <a:r>
                  <a:rPr lang="en-US" sz="2900" b="1" i="1" dirty="0">
                    <a:solidFill>
                      <a:srgbClr val="FF0000"/>
                    </a:solidFill>
                    <a:latin typeface="+mj-lt"/>
                  </a:rPr>
                  <a:t> (minimal required population size) </a:t>
                </a:r>
                <a:r>
                  <a:rPr lang="en-US" sz="2900" dirty="0" err="1">
                    <a:latin typeface="+mj-lt"/>
                  </a:rPr>
                  <a:t>là</a:t>
                </a:r>
                <a:r>
                  <a:rPr lang="en-US" sz="2900" dirty="0">
                    <a:latin typeface="+mj-lt"/>
                  </a:rPr>
                  <a:t> bao </a:t>
                </a:r>
                <a:r>
                  <a:rPr lang="en-US" sz="2900" dirty="0" err="1">
                    <a:latin typeface="+mj-lt"/>
                  </a:rPr>
                  <a:t>nhiêu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tìm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ra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được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lời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giải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tối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ưu</a:t>
                </a:r>
                <a:r>
                  <a:rPr lang="en-US" sz="2900" dirty="0">
                    <a:latin typeface="+mj-lt"/>
                  </a:rPr>
                  <a:t>?</a:t>
                </a:r>
              </a:p>
              <a:p>
                <a:pPr marL="342900" indent="-342900"/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95300BC6-FBF3-4ED1-5A5C-A24F3F0D9F4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3677" y="918739"/>
                <a:ext cx="11084645" cy="5728870"/>
              </a:xfrm>
              <a:prstGeom prst="rect">
                <a:avLst/>
              </a:prstGeom>
              <a:blipFill>
                <a:blip r:embed="rId3"/>
                <a:stretch>
                  <a:fillRect l="-990" t="-1597" r="-550" b="-8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A75AABE7-E8FB-2316-CC18-AD196F3143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BEF5FFE1-9867-7100-86FA-0356936A48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664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FF89B020-00A0-C063-DB5C-AD9353BA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1B2EDB26-7C21-42D7-2BA8-1941A169F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-81046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DAE2D17-B8B8-134F-DA3E-53F4C4F1DB5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3" y="704850"/>
                <a:ext cx="11479178" cy="5942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/>
              <a:p>
                <a:pPr marL="342900" indent="-342900"/>
                <a:r>
                  <a:rPr lang="en-US" sz="2600" dirty="0">
                    <a:latin typeface="+mj-lt"/>
                  </a:rPr>
                  <a:t>Khi so </a:t>
                </a:r>
                <a:r>
                  <a:rPr lang="en-US" sz="2600" dirty="0" err="1">
                    <a:latin typeface="+mj-lt"/>
                  </a:rPr>
                  <a:t>sánh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hiệu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năng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của</a:t>
                </a:r>
                <a:r>
                  <a:rPr lang="en-US" sz="2600" dirty="0">
                    <a:latin typeface="+mj-lt"/>
                  </a:rPr>
                  <a:t> 2 (</a:t>
                </a:r>
                <a:r>
                  <a:rPr lang="en-US" sz="2600" dirty="0" err="1">
                    <a:latin typeface="+mj-lt"/>
                  </a:rPr>
                  <a:t>cấu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hình</a:t>
                </a:r>
                <a:r>
                  <a:rPr lang="en-US" sz="2600" dirty="0">
                    <a:latin typeface="+mj-lt"/>
                  </a:rPr>
                  <a:t>) </a:t>
                </a:r>
                <a:r>
                  <a:rPr lang="en-US" sz="2600" dirty="0" err="1">
                    <a:latin typeface="+mj-lt"/>
                  </a:rPr>
                  <a:t>thuật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tiến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hóa</a:t>
                </a:r>
                <a:r>
                  <a:rPr lang="en-US" sz="2600" dirty="0">
                    <a:latin typeface="+mj-lt"/>
                  </a:rPr>
                  <a:t> A </a:t>
                </a:r>
                <a:r>
                  <a:rPr lang="en-US" sz="2600" dirty="0" err="1">
                    <a:latin typeface="+mj-lt"/>
                  </a:rPr>
                  <a:t>và</a:t>
                </a:r>
                <a:r>
                  <a:rPr lang="en-US" sz="2600" dirty="0">
                    <a:latin typeface="+mj-lt"/>
                  </a:rPr>
                  <a:t> B </a:t>
                </a:r>
                <a:r>
                  <a:rPr lang="en-US" sz="2600" dirty="0" err="1">
                    <a:latin typeface="+mj-lt"/>
                  </a:rPr>
                  <a:t>trên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một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bài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, </a:t>
                </a:r>
                <a:r>
                  <a:rPr lang="en-US" sz="2600" dirty="0" err="1">
                    <a:latin typeface="+mj-lt"/>
                  </a:rPr>
                  <a:t>ví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dụ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>
                    <a:latin typeface="+mj-lt"/>
                  </a:rPr>
                  <a:t>GA/Tournament/</a:t>
                </a:r>
                <a:r>
                  <a:rPr lang="en-US" sz="2600" dirty="0">
                    <a:latin typeface="+mj-lt"/>
                  </a:rPr>
                  <a:t>1X </a:t>
                </a:r>
                <a:r>
                  <a:rPr lang="en-US" sz="2600" dirty="0" err="1">
                    <a:latin typeface="+mj-lt"/>
                  </a:rPr>
                  <a:t>và</a:t>
                </a:r>
                <a:r>
                  <a:rPr lang="en-US" sz="2600" dirty="0">
                    <a:latin typeface="+mj-lt"/>
                  </a:rPr>
                  <a:t> GA/Tournament/UX, ta </a:t>
                </a:r>
                <a:r>
                  <a:rPr lang="en-US" sz="2600" dirty="0" err="1">
                    <a:latin typeface="+mj-lt"/>
                  </a:rPr>
                  <a:t>có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tiến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hành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như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sau</a:t>
                </a:r>
                <a:r>
                  <a:rPr lang="en-US" sz="2600" dirty="0">
                    <a:latin typeface="+mj-lt"/>
                  </a:rPr>
                  <a:t>:</a:t>
                </a:r>
              </a:p>
              <a:p>
                <a:pPr marL="342900" indent="-342900"/>
                <a:r>
                  <a:rPr lang="en-US" sz="2600" dirty="0" err="1">
                    <a:latin typeface="+mj-lt"/>
                  </a:rPr>
                  <a:t>Xét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từng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bài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 (</a:t>
                </a:r>
                <a:r>
                  <a:rPr lang="en-US" sz="2600" dirty="0" err="1">
                    <a:latin typeface="+mj-lt"/>
                  </a:rPr>
                  <a:t>tăng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dần</a:t>
                </a:r>
                <a:r>
                  <a:rPr lang="en-US" sz="2600" dirty="0">
                    <a:latin typeface="+mj-lt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=10, 20, 40, 80, 160, …</m:t>
                    </m:r>
                  </m:oMath>
                </a14:m>
                <a:endParaRPr lang="en-US" sz="2600" dirty="0">
                  <a:latin typeface="+mj-lt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600" dirty="0" err="1">
                    <a:latin typeface="+mj-lt"/>
                  </a:rPr>
                  <a:t>Với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mỗi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bài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, </a:t>
                </a:r>
                <a:r>
                  <a:rPr lang="en-US" sz="2600" dirty="0" err="1">
                    <a:latin typeface="+mj-lt"/>
                  </a:rPr>
                  <a:t>xác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định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rgbClr val="FF0000"/>
                    </a:solidFill>
                    <a:latin typeface="+mj-lt"/>
                  </a:rPr>
                  <a:t>kích</a:t>
                </a:r>
                <a:r>
                  <a:rPr lang="en-US" sz="26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rgbClr val="FF0000"/>
                    </a:solidFill>
                    <a:latin typeface="+mj-lt"/>
                  </a:rPr>
                  <a:t>thước</a:t>
                </a:r>
                <a:r>
                  <a:rPr lang="en-US" sz="26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rgbClr val="FF0000"/>
                    </a:solidFill>
                    <a:latin typeface="+mj-lt"/>
                  </a:rPr>
                  <a:t>quần</a:t>
                </a:r>
                <a:r>
                  <a:rPr lang="en-US" sz="26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rgbClr val="FF0000"/>
                    </a:solidFill>
                    <a:latin typeface="+mj-lt"/>
                  </a:rPr>
                  <a:t>thể</a:t>
                </a:r>
                <a:r>
                  <a:rPr lang="en-US" sz="26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rgbClr val="FF0000"/>
                    </a:solidFill>
                    <a:latin typeface="+mj-lt"/>
                  </a:rPr>
                  <a:t>tối</a:t>
                </a:r>
                <a:r>
                  <a:rPr lang="en-US" sz="2600" b="1" i="1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rgbClr val="FF0000"/>
                    </a:solidFill>
                    <a:latin typeface="+mj-lt"/>
                  </a:rPr>
                  <a:t>thiểu</a:t>
                </a:r>
                <a:r>
                  <a:rPr lang="en-US" sz="2600" b="1" i="1" dirty="0">
                    <a:solidFill>
                      <a:srgbClr val="FF0000"/>
                    </a:solidFill>
                    <a:latin typeface="+mj-lt"/>
                  </a:rPr>
                  <a:t> (minimal required population size) </a:t>
                </a:r>
                <a:r>
                  <a:rPr lang="en-US" sz="2600" dirty="0" err="1">
                    <a:latin typeface="+mj-lt"/>
                  </a:rPr>
                  <a:t>của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mỗi</a:t>
                </a:r>
                <a:r>
                  <a:rPr lang="en-US" sz="2600" dirty="0">
                    <a:latin typeface="+mj-lt"/>
                  </a:rPr>
                  <a:t> (</a:t>
                </a:r>
                <a:r>
                  <a:rPr lang="en-US" sz="2600" dirty="0" err="1">
                    <a:latin typeface="+mj-lt"/>
                  </a:rPr>
                  <a:t>cấu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hình</a:t>
                </a:r>
                <a:r>
                  <a:rPr lang="en-US" sz="2600" dirty="0">
                    <a:latin typeface="+mj-lt"/>
                  </a:rPr>
                  <a:t>) </a:t>
                </a:r>
                <a:r>
                  <a:rPr lang="en-US" sz="2600" dirty="0" err="1">
                    <a:latin typeface="+mj-lt"/>
                  </a:rPr>
                  <a:t>thuật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có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tìm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được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lời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giải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ưu</a:t>
                </a:r>
                <a:r>
                  <a:rPr lang="en-US" sz="2600" dirty="0">
                    <a:latin typeface="+mj-lt"/>
                  </a:rPr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600" dirty="0" err="1">
                    <a:latin typeface="+mj-lt"/>
                  </a:rPr>
                  <a:t>Thống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kê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chemeClr val="accent1"/>
                    </a:solidFill>
                    <a:latin typeface="+mj-lt"/>
                  </a:rPr>
                  <a:t>số</a:t>
                </a:r>
                <a:r>
                  <a:rPr lang="en-US" sz="2600" b="1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chemeClr val="accent1"/>
                    </a:solidFill>
                    <a:latin typeface="+mj-lt"/>
                  </a:rPr>
                  <a:t>lần</a:t>
                </a:r>
                <a:r>
                  <a:rPr lang="en-US" sz="2600" b="1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chemeClr val="accent1"/>
                    </a:solidFill>
                    <a:latin typeface="+mj-lt"/>
                  </a:rPr>
                  <a:t>gọi</a:t>
                </a:r>
                <a:r>
                  <a:rPr lang="en-US" sz="2600" b="1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chemeClr val="accent1"/>
                    </a:solidFill>
                    <a:latin typeface="+mj-lt"/>
                  </a:rPr>
                  <a:t>hàm</a:t>
                </a:r>
                <a:r>
                  <a:rPr lang="en-US" sz="2600" b="1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chemeClr val="accent1"/>
                    </a:solidFill>
                    <a:latin typeface="+mj-lt"/>
                  </a:rPr>
                  <a:t>đánh</a:t>
                </a:r>
                <a:r>
                  <a:rPr lang="en-US" sz="2600" b="1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sz="2600" b="1" i="1" dirty="0" err="1">
                    <a:solidFill>
                      <a:schemeClr val="accent1"/>
                    </a:solidFill>
                    <a:latin typeface="+mj-lt"/>
                  </a:rPr>
                  <a:t>giá</a:t>
                </a:r>
                <a:r>
                  <a:rPr lang="en-US" sz="2600" b="1" i="1" dirty="0">
                    <a:solidFill>
                      <a:schemeClr val="accent1"/>
                    </a:solidFill>
                    <a:latin typeface="+mj-lt"/>
                  </a:rPr>
                  <a:t> (number of evaluations) </a:t>
                </a:r>
                <a:r>
                  <a:rPr lang="en-US" sz="2600" dirty="0" err="1">
                    <a:latin typeface="+mj-lt"/>
                  </a:rPr>
                  <a:t>thực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hiện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bởi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quần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thiểu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này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tìm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được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lời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giải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ưu</a:t>
                </a:r>
                <a:r>
                  <a:rPr lang="en-US" sz="2600" dirty="0">
                    <a:latin typeface="+mj-lt"/>
                  </a:rPr>
                  <a:t> (</a:t>
                </a:r>
                <a:r>
                  <a:rPr lang="en-US" sz="2600" dirty="0" err="1">
                    <a:latin typeface="+mj-lt"/>
                  </a:rPr>
                  <a:t>ví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dụ</a:t>
                </a:r>
                <a:r>
                  <a:rPr lang="en-US" sz="2600" dirty="0">
                    <a:latin typeface="+mj-lt"/>
                  </a:rPr>
                  <a:t>: 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quần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số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thế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hệ</a:t>
                </a:r>
                <a:r>
                  <a:rPr lang="en-US" sz="2600" dirty="0">
                    <a:latin typeface="+mj-lt"/>
                  </a:rPr>
                  <a:t>).</a:t>
                </a:r>
              </a:p>
              <a:p>
                <a:pPr marL="342900" indent="-342900"/>
                <a:r>
                  <a:rPr lang="en-US" sz="2600" dirty="0" err="1">
                    <a:latin typeface="+mj-lt"/>
                  </a:rPr>
                  <a:t>Vẽ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đồ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thị</a:t>
                </a:r>
                <a:r>
                  <a:rPr lang="en-US" sz="2600" dirty="0">
                    <a:latin typeface="+mj-lt"/>
                  </a:rPr>
                  <a:t> so </a:t>
                </a:r>
                <a:r>
                  <a:rPr lang="en-US" sz="2600" dirty="0" err="1">
                    <a:latin typeface="+mj-lt"/>
                  </a:rPr>
                  <a:t>sánh</a:t>
                </a:r>
                <a:r>
                  <a:rPr lang="en-US" sz="2600" dirty="0">
                    <a:latin typeface="+mj-lt"/>
                  </a:rPr>
                  <a:t> scalability (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bài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tăng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dần</a:t>
                </a:r>
                <a:r>
                  <a:rPr lang="en-US" sz="2600" dirty="0">
                    <a:latin typeface="+mj-lt"/>
                  </a:rPr>
                  <a:t>) </a:t>
                </a:r>
                <a:r>
                  <a:rPr lang="en-US" sz="2600" dirty="0" err="1">
                    <a:latin typeface="+mj-lt"/>
                  </a:rPr>
                  <a:t>trên</a:t>
                </a:r>
                <a:r>
                  <a:rPr lang="en-US" sz="2600" dirty="0">
                    <a:latin typeface="+mj-lt"/>
                  </a:rPr>
                  <a:t> 2 </a:t>
                </a:r>
                <a:r>
                  <a:rPr lang="en-US" sz="2600" dirty="0" err="1">
                    <a:latin typeface="+mj-lt"/>
                  </a:rPr>
                  <a:t>khía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cạnh</a:t>
                </a:r>
                <a:r>
                  <a:rPr lang="en-US" sz="2600" dirty="0">
                    <a:latin typeface="+mj-lt"/>
                  </a:rPr>
                  <a:t> – 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quần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thiểu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và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số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gọi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hàm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đánh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giá</a:t>
                </a:r>
                <a:r>
                  <a:rPr lang="en-US" sz="2600" dirty="0">
                    <a:latin typeface="+mj-lt"/>
                  </a:rPr>
                  <a:t> – </a:t>
                </a:r>
                <a:r>
                  <a:rPr lang="en-US" sz="2600" dirty="0" err="1">
                    <a:latin typeface="+mj-lt"/>
                  </a:rPr>
                  <a:t>của</a:t>
                </a:r>
                <a:r>
                  <a:rPr lang="en-US" sz="2600" dirty="0">
                    <a:latin typeface="+mj-lt"/>
                  </a:rPr>
                  <a:t> A </a:t>
                </a:r>
                <a:r>
                  <a:rPr lang="en-US" sz="2600" dirty="0" err="1">
                    <a:latin typeface="+mj-lt"/>
                  </a:rPr>
                  <a:t>và</a:t>
                </a:r>
                <a:r>
                  <a:rPr lang="en-US" sz="2600" dirty="0">
                    <a:latin typeface="+mj-lt"/>
                  </a:rPr>
                  <a:t> B.</a:t>
                </a:r>
              </a:p>
              <a:p>
                <a:pPr marL="342900" indent="-342900"/>
                <a:endParaRPr lang="en-US" sz="2900" dirty="0">
                  <a:latin typeface="+mj-lt"/>
                </a:endParaRPr>
              </a:p>
              <a:p>
                <a:pPr marL="342900" indent="-342900"/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1DAE2D17-B8B8-134F-DA3E-53F4C4F1DB5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3" y="704850"/>
                <a:ext cx="11479178" cy="5942759"/>
              </a:xfrm>
              <a:prstGeom prst="rect">
                <a:avLst/>
              </a:prstGeom>
              <a:blipFill>
                <a:blip r:embed="rId3"/>
                <a:stretch>
                  <a:fillRect l="-956" t="-308" r="-7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4C065EB6-180A-9F13-DDC4-F922ECF482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FE71C750-3EB6-ADEA-8556-F0FC206AB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775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E53924E7-C6F1-FB60-EFDD-7AC4473C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BCB7F67B-9D7C-AA6B-F352-5D9994ECC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-81046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Bisection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80CBB147-A43F-F296-4250-57006A137EE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3" y="704850"/>
                <a:ext cx="11479178" cy="5942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 indent="-342900"/>
                <a:r>
                  <a:rPr lang="en-US" sz="2900" dirty="0">
                    <a:latin typeface="+mj-lt"/>
                  </a:rPr>
                  <a:t>Ví </a:t>
                </a:r>
                <a:r>
                  <a:rPr lang="en-US" sz="2900" dirty="0" err="1">
                    <a:latin typeface="+mj-lt"/>
                  </a:rPr>
                  <a:t>dụ</a:t>
                </a:r>
                <a:r>
                  <a:rPr lang="en-US" sz="2900" dirty="0">
                    <a:latin typeface="+mj-lt"/>
                  </a:rPr>
                  <a:t>: ta</a:t>
                </a:r>
                <a:r>
                  <a:rPr lang="en-US" sz="2900" dirty="0"/>
                  <a:t> </a:t>
                </a:r>
                <a:r>
                  <a:rPr lang="en-US" sz="2900" dirty="0" err="1"/>
                  <a:t>cần</a:t>
                </a:r>
                <a:r>
                  <a:rPr lang="en-US" sz="2900" dirty="0"/>
                  <a:t> </a:t>
                </a:r>
                <a:r>
                  <a:rPr lang="en-US" sz="2900" dirty="0" err="1"/>
                  <a:t>xác</a:t>
                </a:r>
                <a:r>
                  <a:rPr lang="en-US" sz="2900" dirty="0"/>
                  <a:t> </a:t>
                </a:r>
                <a:r>
                  <a:rPr lang="en-US" sz="2900" dirty="0" err="1"/>
                  <a:t>định</a:t>
                </a:r>
                <a:r>
                  <a:rPr lang="en-US" sz="2900" dirty="0"/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</a:rPr>
                  <a:t>kích</a:t>
                </a:r>
                <a:r>
                  <a:rPr lang="en-US" sz="2900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</a:rPr>
                  <a:t>thước</a:t>
                </a:r>
                <a:r>
                  <a:rPr lang="en-US" sz="2900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</a:rPr>
                  <a:t>quần</a:t>
                </a:r>
                <a:r>
                  <a:rPr lang="en-US" sz="2900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</a:rPr>
                  <a:t>thể</a:t>
                </a:r>
                <a:r>
                  <a:rPr lang="en-US" sz="2900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</a:rPr>
                  <a:t>tối</a:t>
                </a:r>
                <a:r>
                  <a:rPr lang="en-US" sz="2900" b="1" i="1" dirty="0">
                    <a:solidFill>
                      <a:srgbClr val="FF0000"/>
                    </a:solidFill>
                  </a:rPr>
                  <a:t> </a:t>
                </a:r>
                <a:r>
                  <a:rPr lang="en-US" sz="2900" b="1" i="1" dirty="0" err="1">
                    <a:solidFill>
                      <a:srgbClr val="FF0000"/>
                    </a:solidFill>
                  </a:rPr>
                  <a:t>thiểu</a:t>
                </a:r>
                <a:r>
                  <a:rPr lang="en-US" sz="2900" b="1" i="1" dirty="0">
                    <a:solidFill>
                      <a:srgbClr val="FF0000"/>
                    </a:solidFill>
                  </a:rPr>
                  <a:t> (minimal required population size) </a:t>
                </a:r>
                <a:r>
                  <a:rPr lang="en-US" sz="2900" dirty="0" err="1">
                    <a:solidFill>
                      <a:schemeClr val="tx1">
                        <a:lumMod val="50000"/>
                      </a:schemeClr>
                    </a:solidFill>
                  </a:rPr>
                  <a:t>để</a:t>
                </a:r>
                <a:r>
                  <a:rPr lang="en-US" sz="2900" dirty="0">
                    <a:solidFill>
                      <a:schemeClr val="tx1">
                        <a:lumMod val="50000"/>
                      </a:schemeClr>
                    </a:solidFill>
                  </a:rPr>
                  <a:t> GA/Tournament/1X </a:t>
                </a:r>
                <a:r>
                  <a:rPr lang="en-US" sz="2900" dirty="0" err="1">
                    <a:solidFill>
                      <a:schemeClr val="tx1">
                        <a:lumMod val="50000"/>
                      </a:schemeClr>
                    </a:solidFill>
                  </a:rPr>
                  <a:t>giải</a:t>
                </a:r>
                <a:r>
                  <a:rPr lang="en-US" sz="29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900" dirty="0" err="1">
                    <a:solidFill>
                      <a:schemeClr val="tx1">
                        <a:lumMod val="50000"/>
                      </a:schemeClr>
                    </a:solidFill>
                  </a:rPr>
                  <a:t>quyết</a:t>
                </a:r>
                <a:r>
                  <a:rPr lang="en-US" sz="29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900" dirty="0" err="1">
                    <a:solidFill>
                      <a:schemeClr val="tx1">
                        <a:lumMod val="50000"/>
                      </a:schemeClr>
                    </a:solidFill>
                  </a:rPr>
                  <a:t>bài</a:t>
                </a:r>
                <a:r>
                  <a:rPr lang="en-US" sz="2900" dirty="0">
                    <a:solidFill>
                      <a:schemeClr val="tx1">
                        <a:lumMod val="50000"/>
                      </a:schemeClr>
                    </a:solidFill>
                  </a:rPr>
                  <a:t> </a:t>
                </a:r>
                <a:r>
                  <a:rPr lang="en-US" sz="2900" dirty="0" err="1">
                    <a:solidFill>
                      <a:schemeClr val="tx1">
                        <a:lumMod val="50000"/>
                      </a:schemeClr>
                    </a:solidFill>
                  </a:rPr>
                  <a:t>toán</a:t>
                </a:r>
                <a:r>
                  <a:rPr lang="en-US" sz="2900" dirty="0">
                    <a:solidFill>
                      <a:schemeClr val="tx1">
                        <a:lumMod val="50000"/>
                      </a:schemeClr>
                    </a:solidFill>
                  </a:rPr>
                  <a:t> Concatenated </a:t>
                </a:r>
                <a:r>
                  <a:rPr lang="en-US" sz="2900" dirty="0" err="1">
                    <a:solidFill>
                      <a:schemeClr val="tx1">
                        <a:lumMod val="50000"/>
                      </a:schemeClr>
                    </a:solidFill>
                  </a:rPr>
                  <a:t>Trap</a:t>
                </a:r>
                <a:r>
                  <a:rPr lang="en-US" sz="2900" dirty="0">
                    <a:solidFill>
                      <a:schemeClr val="tx1">
                        <a:lumMod val="50000"/>
                      </a:schemeClr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với</a:t>
                </a:r>
                <a:r>
                  <a:rPr lang="en-US" sz="29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2900" dirty="0">
                    <a:latin typeface="+mj-lt"/>
                  </a:rPr>
                  <a:t> bit </a:t>
                </a:r>
                <a:r>
                  <a:rPr lang="en-US" sz="2900" dirty="0" err="1">
                    <a:latin typeface="+mj-lt"/>
                  </a:rPr>
                  <a:t>và</a:t>
                </a:r>
                <a:r>
                  <a:rPr lang="en-US" sz="29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900" dirty="0">
                    <a:latin typeface="+mj-lt"/>
                  </a:rPr>
                  <a:t>.</a:t>
                </a:r>
              </a:p>
              <a:p>
                <a:pPr marL="342900" indent="-342900"/>
                <a:r>
                  <a:rPr lang="en-US" sz="2900" dirty="0">
                    <a:latin typeface="+mj-lt"/>
                  </a:rPr>
                  <a:t>Phương </a:t>
                </a:r>
                <a:r>
                  <a:rPr lang="en-US" sz="2900" dirty="0" err="1">
                    <a:latin typeface="+mj-lt"/>
                  </a:rPr>
                  <a:t>pháp</a:t>
                </a:r>
                <a:r>
                  <a:rPr lang="en-US" sz="2900" dirty="0">
                    <a:latin typeface="+mj-lt"/>
                  </a:rPr>
                  <a:t> Bisection </a:t>
                </a:r>
                <a:r>
                  <a:rPr lang="en-US" sz="2900" dirty="0" err="1">
                    <a:latin typeface="+mj-lt"/>
                  </a:rPr>
                  <a:t>tìm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tối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thiểu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cho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một</a:t>
                </a:r>
                <a:r>
                  <a:rPr lang="en-US" sz="2900" dirty="0">
                    <a:latin typeface="+mj-lt"/>
                  </a:rPr>
                  <a:t> (</a:t>
                </a:r>
                <a:r>
                  <a:rPr lang="en-US" sz="2900" dirty="0" err="1">
                    <a:latin typeface="+mj-lt"/>
                  </a:rPr>
                  <a:t>cấu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hình</a:t>
                </a:r>
                <a:r>
                  <a:rPr lang="en-US" sz="2900" dirty="0">
                    <a:latin typeface="+mj-lt"/>
                  </a:rPr>
                  <a:t>) </a:t>
                </a:r>
                <a:r>
                  <a:rPr lang="en-US" sz="2900" dirty="0" err="1">
                    <a:latin typeface="+mj-lt"/>
                  </a:rPr>
                  <a:t>thuật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toán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tiến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hóa</a:t>
                </a:r>
                <a:r>
                  <a:rPr lang="en-US" sz="2900" dirty="0">
                    <a:latin typeface="+mj-lt"/>
                  </a:rPr>
                  <a:t> qua 2 </a:t>
                </a:r>
                <a:r>
                  <a:rPr lang="en-US" sz="2900" dirty="0" err="1">
                    <a:latin typeface="+mj-lt"/>
                  </a:rPr>
                  <a:t>giai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đoạn</a:t>
                </a:r>
                <a:r>
                  <a:rPr lang="en-US" sz="2900" dirty="0">
                    <a:latin typeface="+mj-lt"/>
                  </a:rPr>
                  <a:t>:</a:t>
                </a:r>
              </a:p>
              <a:p>
                <a:pPr indent="-457200">
                  <a:buFont typeface="Wingdings" panose="05000000000000000000" pitchFamily="2" charset="2"/>
                  <a:buChar char="Ø"/>
                </a:pPr>
                <a:r>
                  <a:rPr lang="en-US" sz="2900" b="1" dirty="0">
                    <a:latin typeface="+mj-lt"/>
                  </a:rPr>
                  <a:t>Giai </a:t>
                </a:r>
                <a:r>
                  <a:rPr lang="en-US" sz="2900" b="1" dirty="0" err="1">
                    <a:latin typeface="+mj-lt"/>
                  </a:rPr>
                  <a:t>đoạn</a:t>
                </a:r>
                <a:r>
                  <a:rPr lang="en-US" sz="2900" b="1" dirty="0">
                    <a:latin typeface="+mj-lt"/>
                  </a:rPr>
                  <a:t> 1: </a:t>
                </a:r>
                <a:r>
                  <a:rPr lang="en-US" sz="2900" dirty="0" err="1">
                    <a:latin typeface="+mj-lt"/>
                  </a:rPr>
                  <a:t>Tìm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cận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trên</a:t>
                </a:r>
                <a:r>
                  <a:rPr lang="en-US" sz="2900" dirty="0">
                    <a:latin typeface="+mj-lt"/>
                  </a:rPr>
                  <a:t> (upper bound) </a:t>
                </a:r>
                <a:r>
                  <a:rPr lang="en-US" sz="2900" dirty="0" err="1">
                    <a:latin typeface="+mj-lt"/>
                  </a:rPr>
                  <a:t>của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tối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thiểu</a:t>
                </a:r>
                <a:r>
                  <a:rPr lang="en-US" sz="2900" dirty="0">
                    <a:latin typeface="+mj-lt"/>
                  </a:rPr>
                  <a:t>.</a:t>
                </a:r>
              </a:p>
              <a:p>
                <a:pPr indent="-457200">
                  <a:buFont typeface="Wingdings" panose="05000000000000000000" pitchFamily="2" charset="2"/>
                  <a:buChar char="Ø"/>
                </a:pPr>
                <a:r>
                  <a:rPr lang="en-US" sz="2900" b="1" dirty="0">
                    <a:latin typeface="+mj-lt"/>
                  </a:rPr>
                  <a:t>Giai </a:t>
                </a:r>
                <a:r>
                  <a:rPr lang="en-US" sz="2900" b="1" dirty="0" err="1">
                    <a:latin typeface="+mj-lt"/>
                  </a:rPr>
                  <a:t>đoạn</a:t>
                </a:r>
                <a:r>
                  <a:rPr lang="en-US" sz="2900" b="1" dirty="0">
                    <a:latin typeface="+mj-lt"/>
                  </a:rPr>
                  <a:t> 2: </a:t>
                </a:r>
                <a:r>
                  <a:rPr lang="en-US" sz="2900" dirty="0" err="1">
                    <a:latin typeface="+mj-lt"/>
                  </a:rPr>
                  <a:t>Xác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định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kích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thước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quần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thể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tối</a:t>
                </a:r>
                <a:r>
                  <a:rPr lang="en-US" sz="2900" dirty="0">
                    <a:latin typeface="+mj-lt"/>
                  </a:rPr>
                  <a:t> </a:t>
                </a:r>
                <a:r>
                  <a:rPr lang="en-US" sz="2900" dirty="0" err="1">
                    <a:latin typeface="+mj-lt"/>
                  </a:rPr>
                  <a:t>thiểu</a:t>
                </a:r>
                <a:r>
                  <a:rPr lang="en-US" sz="2900" dirty="0">
                    <a:latin typeface="+mj-lt"/>
                  </a:rPr>
                  <a:t>.</a:t>
                </a:r>
              </a:p>
              <a:p>
                <a:pPr marL="342900" indent="-342900"/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80CBB147-A43F-F296-4250-57006A137EE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3" y="704850"/>
                <a:ext cx="11479178" cy="5942759"/>
              </a:xfrm>
              <a:prstGeom prst="rect">
                <a:avLst/>
              </a:prstGeom>
              <a:blipFill>
                <a:blip r:embed="rId3"/>
                <a:stretch>
                  <a:fillRect l="-956" r="-11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E98B36C1-6E7F-9421-C320-7FB665524F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7D08CF5A-814C-828E-FD8D-A43CA7E338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187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63C5E1CC-6EEA-846A-E5E9-21B075AE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5F04B562-78EC-B605-10B5-F4CCAB2E5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-81046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Bisection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6C88757F-9BAC-4311-B0C4-43F300BCB6F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3" y="704850"/>
                <a:ext cx="11479178" cy="5942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indent="-457200">
                  <a:buFont typeface="Wingdings" panose="05000000000000000000" pitchFamily="2" charset="2"/>
                  <a:buChar char="Ø"/>
                </a:pPr>
                <a:r>
                  <a:rPr lang="en-US" sz="2600" b="1" dirty="0">
                    <a:latin typeface="+mj-lt"/>
                  </a:rPr>
                  <a:t>Giai </a:t>
                </a:r>
                <a:r>
                  <a:rPr lang="en-US" sz="2600" b="1" dirty="0" err="1">
                    <a:latin typeface="+mj-lt"/>
                  </a:rPr>
                  <a:t>đoạn</a:t>
                </a:r>
                <a:r>
                  <a:rPr lang="en-US" sz="2600" b="1" dirty="0">
                    <a:latin typeface="+mj-lt"/>
                  </a:rPr>
                  <a:t> 1: </a:t>
                </a:r>
                <a:r>
                  <a:rPr lang="en-US" sz="2600" dirty="0" err="1">
                    <a:latin typeface="+mj-lt"/>
                  </a:rPr>
                  <a:t>Tìm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cận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trên</a:t>
                </a:r>
                <a:r>
                  <a:rPr lang="en-US" sz="2600" dirty="0">
                    <a:latin typeface="+mj-lt"/>
                  </a:rPr>
                  <a:t> (upper bound)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</m:oMath>
                </a14:m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của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kích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thước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quần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thể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tối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thiểu</a:t>
                </a:r>
                <a:r>
                  <a:rPr lang="en-US" sz="2600" dirty="0">
                    <a:latin typeface="+mj-lt"/>
                  </a:rPr>
                  <a:t> (minimal required population size):</a:t>
                </a:r>
              </a:p>
              <a:p>
                <a:pPr marL="0" indent="0">
                  <a:buNone/>
                </a:pPr>
                <a:endParaRPr lang="en-US" sz="2600" dirty="0">
                  <a:latin typeface="+mj-lt"/>
                </a:endParaRPr>
              </a:p>
              <a:p>
                <a:pPr indent="-457200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pPr indent="-457200"/>
                <a:r>
                  <a:rPr lang="en-US" sz="2400" dirty="0">
                    <a:latin typeface="+mj-lt"/>
                  </a:rPr>
                  <a:t>do</a:t>
                </a:r>
              </a:p>
              <a:p>
                <a:pPr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</m:oMath>
                </a14:m>
                <a:endParaRPr lang="en-US" dirty="0">
                  <a:latin typeface="+mj-lt"/>
                </a:endParaRPr>
              </a:p>
              <a:p>
                <a:pPr lvl="1" indent="-457200">
                  <a:buFont typeface="+mj-lt"/>
                  <a:buAutoNum type="arabicPeriod"/>
                </a:pP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success</a:t>
                </a:r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cấu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hình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thuật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toán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đang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xét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có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thể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tìm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ra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lời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giải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tối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ưu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với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kích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thước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quần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thể</a:t>
                </a:r>
                <a:r>
                  <a:rPr 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</m:oMath>
                </a14:m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trong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>
                    <a:solidFill>
                      <a:srgbClr val="DD4BE1"/>
                    </a:solidFill>
                    <a:latin typeface="+mj-lt"/>
                  </a:rPr>
                  <a:t>10/10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lần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chạy</a:t>
                </a:r>
                <a:r>
                  <a:rPr lang="en-US" dirty="0">
                    <a:latin typeface="+mj-lt"/>
                  </a:rPr>
                  <a:t> hay </a:t>
                </a:r>
                <a:r>
                  <a:rPr lang="en-US" dirty="0" err="1">
                    <a:latin typeface="+mj-lt"/>
                  </a:rPr>
                  <a:t>không</a:t>
                </a:r>
                <a:r>
                  <a:rPr lang="en-US" dirty="0">
                    <a:latin typeface="+mj-lt"/>
                  </a:rPr>
                  <a:t>? (</a:t>
                </a:r>
                <a:r>
                  <a:rPr lang="en-US" dirty="0" err="1">
                    <a:latin typeface="+mj-lt"/>
                  </a:rPr>
                  <a:t>mỗi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lần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với</a:t>
                </a:r>
                <a:r>
                  <a:rPr lang="en-US" dirty="0">
                    <a:latin typeface="+mj-lt"/>
                  </a:rPr>
                  <a:t> 1 random seed </a:t>
                </a:r>
                <a:r>
                  <a:rPr lang="en-US" dirty="0" err="1">
                    <a:latin typeface="+mj-lt"/>
                  </a:rPr>
                  <a:t>khác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 err="1">
                    <a:latin typeface="+mj-lt"/>
                  </a:rPr>
                  <a:t>nhau</a:t>
                </a:r>
                <a:r>
                  <a:rPr lang="en-US" dirty="0">
                    <a:latin typeface="+mj-lt"/>
                  </a:rPr>
                  <a:t>).</a:t>
                </a:r>
              </a:p>
              <a:p>
                <a:pPr indent="-457200"/>
                <a:r>
                  <a:rPr lang="en-US" sz="2400" dirty="0">
                    <a:latin typeface="+mj-lt"/>
                  </a:rPr>
                  <a:t>while </a:t>
                </a:r>
                <a:r>
                  <a:rPr lang="en-US" sz="2400" b="1" dirty="0">
                    <a:solidFill>
                      <a:schemeClr val="accent1"/>
                    </a:solidFill>
                    <a:latin typeface="+mj-lt"/>
                  </a:rPr>
                  <a:t>success</a:t>
                </a:r>
                <a:r>
                  <a:rPr lang="en-US" sz="2400" dirty="0">
                    <a:latin typeface="+mj-lt"/>
                  </a:rPr>
                  <a:t> = </a:t>
                </a:r>
                <a:r>
                  <a:rPr lang="en-US" sz="2400" dirty="0">
                    <a:solidFill>
                      <a:srgbClr val="DD4BE1"/>
                    </a:solidFill>
                    <a:latin typeface="+mj-lt"/>
                  </a:rPr>
                  <a:t>false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6C88757F-9BAC-4311-B0C4-43F300BCB6F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3" y="704850"/>
                <a:ext cx="11479178" cy="5942759"/>
              </a:xfrm>
              <a:prstGeom prst="rect">
                <a:avLst/>
              </a:prstGeom>
              <a:blipFill>
                <a:blip r:embed="rId3"/>
                <a:stretch>
                  <a:fillRect l="-956" r="-9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DB842C1F-E800-6740-6F48-C1819A0FB2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58DA49DF-F45D-A3B3-15F2-4B37334BC9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7444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0E36E18-F6F2-82B1-D6C9-3BEA959E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23737B41-5704-A5FF-1A1B-7148C75CCC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-81046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Bisection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26A59C3-4BB9-D074-0083-141F97727A6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8022" y="573294"/>
                <a:ext cx="11479178" cy="62847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indent="-457200">
                  <a:buFont typeface="Wingdings" panose="05000000000000000000" pitchFamily="2" charset="2"/>
                  <a:buChar char="Ø"/>
                </a:pPr>
                <a:r>
                  <a:rPr lang="en-US" sz="2600" b="1" dirty="0">
                    <a:latin typeface="+mj-lt"/>
                  </a:rPr>
                  <a:t>Giai </a:t>
                </a:r>
                <a:r>
                  <a:rPr lang="en-US" sz="2600" b="1" dirty="0" err="1">
                    <a:latin typeface="+mj-lt"/>
                  </a:rPr>
                  <a:t>đoạn</a:t>
                </a:r>
                <a:r>
                  <a:rPr lang="en-US" sz="2600" b="1" dirty="0">
                    <a:latin typeface="+mj-lt"/>
                  </a:rPr>
                  <a:t> 2: </a:t>
                </a:r>
                <a:r>
                  <a:rPr lang="en-US" sz="2600" dirty="0" err="1">
                    <a:latin typeface="+mj-lt"/>
                  </a:rPr>
                  <a:t>Xác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định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kích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thước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quần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thể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tối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sz="2600" dirty="0" err="1">
                    <a:solidFill>
                      <a:srgbClr val="FF0000"/>
                    </a:solidFill>
                    <a:latin typeface="+mj-lt"/>
                  </a:rPr>
                  <a:t>thiểu</a:t>
                </a:r>
                <a:endParaRPr lang="en-US" sz="2600" dirty="0">
                  <a:latin typeface="+mj-lt"/>
                </a:endParaRPr>
              </a:p>
              <a:p>
                <a:pPr indent="-457200"/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𝑙𝑜𝑤𝑒𝑟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sz="2600" dirty="0">
                  <a:latin typeface="+mj-lt"/>
                </a:endParaRPr>
              </a:p>
              <a:p>
                <a:pPr indent="-457200"/>
                <a:r>
                  <a:rPr lang="en-US" sz="2600" dirty="0">
                    <a:latin typeface="+mj-lt"/>
                  </a:rPr>
                  <a:t>while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𝑢𝑝𝑝𝑒𝑟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𝑙𝑜𝑤𝑒𝑟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𝑢𝑝𝑝𝑒𝑟</m:t>
                            </m:r>
                          </m:sup>
                        </m:sSup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&gt;0.1</m:t>
                    </m:r>
                  </m:oMath>
                </a14:m>
                <a:endParaRPr lang="en-US" sz="2600" dirty="0">
                  <a:latin typeface="+mj-lt"/>
                </a:endParaRPr>
              </a:p>
              <a:p>
                <a:pPr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𝑙𝑜𝑤𝑒𝑟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endParaRPr lang="en-US" sz="2600" dirty="0">
                  <a:latin typeface="+mj-lt"/>
                </a:endParaRPr>
              </a:p>
              <a:p>
                <a:pPr lvl="1" indent="-457200">
                  <a:buFont typeface="+mj-lt"/>
                  <a:buAutoNum type="arabicPeriod"/>
                </a:pPr>
                <a:r>
                  <a:rPr lang="en-US" sz="2600" b="1" dirty="0">
                    <a:solidFill>
                      <a:schemeClr val="accent1"/>
                    </a:solidFill>
                    <a:latin typeface="+mj-lt"/>
                  </a:rPr>
                  <a:t>success</a:t>
                </a:r>
                <a:r>
                  <a:rPr lang="en-US" sz="26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cấu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hình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thuật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toán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đang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xét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có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tìm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ra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lời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giải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tối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ưu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với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kích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thước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quần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thể</a:t>
                </a:r>
                <a:r>
                  <a:rPr lang="en-US" sz="26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trong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10/10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chạy</a:t>
                </a:r>
                <a:r>
                  <a:rPr lang="en-US" sz="2600" dirty="0">
                    <a:latin typeface="+mj-lt"/>
                  </a:rPr>
                  <a:t> hay </a:t>
                </a:r>
                <a:r>
                  <a:rPr lang="en-US" sz="2600" dirty="0" err="1">
                    <a:latin typeface="+mj-lt"/>
                  </a:rPr>
                  <a:t>không</a:t>
                </a:r>
                <a:r>
                  <a:rPr lang="en-US" sz="2600" dirty="0">
                    <a:latin typeface="+mj-lt"/>
                  </a:rPr>
                  <a:t>? (</a:t>
                </a:r>
                <a:r>
                  <a:rPr lang="en-US" sz="2600" dirty="0" err="1">
                    <a:latin typeface="+mj-lt"/>
                  </a:rPr>
                  <a:t>mỗi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lần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với</a:t>
                </a:r>
                <a:r>
                  <a:rPr lang="en-US" sz="2600" dirty="0">
                    <a:latin typeface="+mj-lt"/>
                  </a:rPr>
                  <a:t> 1 random seed </a:t>
                </a:r>
                <a:r>
                  <a:rPr lang="en-US" sz="2600" dirty="0" err="1">
                    <a:latin typeface="+mj-lt"/>
                  </a:rPr>
                  <a:t>khác</a:t>
                </a:r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 err="1">
                    <a:latin typeface="+mj-lt"/>
                  </a:rPr>
                  <a:t>nhau</a:t>
                </a:r>
                <a:r>
                  <a:rPr lang="en-US" sz="2600" dirty="0">
                    <a:latin typeface="+mj-lt"/>
                  </a:rPr>
                  <a:t>).</a:t>
                </a:r>
              </a:p>
              <a:p>
                <a:pPr lvl="1" indent="-457200">
                  <a:buFont typeface="+mj-lt"/>
                  <a:buAutoNum type="arabicPeriod"/>
                </a:pPr>
                <a:r>
                  <a:rPr lang="en-US" sz="2600" dirty="0">
                    <a:latin typeface="+mj-lt"/>
                  </a:rPr>
                  <a:t>if </a:t>
                </a:r>
                <a:r>
                  <a:rPr lang="en-US" sz="2600" b="1" dirty="0">
                    <a:solidFill>
                      <a:schemeClr val="accent1"/>
                    </a:solidFill>
                    <a:latin typeface="+mj-lt"/>
                  </a:rPr>
                  <a:t>success</a:t>
                </a:r>
                <a:r>
                  <a:rPr lang="en-US" sz="2600" dirty="0">
                    <a:latin typeface="+mj-lt"/>
                  </a:rPr>
                  <a:t> = </a:t>
                </a:r>
                <a:r>
                  <a:rPr lang="en-US" sz="2600" dirty="0">
                    <a:solidFill>
                      <a:srgbClr val="DD4BE1"/>
                    </a:solidFill>
                    <a:latin typeface="+mj-lt"/>
                  </a:rPr>
                  <a:t>true</a:t>
                </a:r>
                <a:r>
                  <a:rPr lang="en-US" sz="26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600" dirty="0">
                    <a:latin typeface="+mj-lt"/>
                  </a:rPr>
                  <a:t> else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𝑙𝑜𝑤𝑒𝑟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600" b="0" dirty="0">
                  <a:latin typeface="+mj-lt"/>
                  <a:ea typeface="Cambria Math" panose="02040503050406030204" pitchFamily="18" charset="0"/>
                </a:endParaRPr>
              </a:p>
              <a:p>
                <a:pPr lvl="1" indent="-457200">
                  <a:buFont typeface="+mj-lt"/>
                  <a:buAutoNum type="arabicPeriod"/>
                </a:pPr>
                <a:r>
                  <a:rPr lang="en-US" sz="26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𝑙𝑜𝑤𝑒𝑟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600" dirty="0">
                    <a:latin typeface="+mj-lt"/>
                  </a:rPr>
                  <a:t> </a:t>
                </a:r>
                <a:r>
                  <a:rPr lang="en-US" sz="2600" dirty="0">
                    <a:solidFill>
                      <a:srgbClr val="FF0000"/>
                    </a:solidFill>
                    <a:latin typeface="+mj-lt"/>
                  </a:rPr>
                  <a:t>break</a:t>
                </a:r>
              </a:p>
              <a:p>
                <a:pPr lvl="1" indent="-457200">
                  <a:buFont typeface="+mj-lt"/>
                  <a:buAutoNum type="arabicPeriod"/>
                </a:pPr>
                <a:endParaRPr lang="en-US" dirty="0">
                  <a:solidFill>
                    <a:srgbClr val="FF0000"/>
                  </a:solidFill>
                  <a:latin typeface="+mj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Bisection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trả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về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giá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trị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𝑢𝑝𝑝𝑒𝑟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sau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cùng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chính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là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+mj-lt"/>
                  </a:rPr>
                  <a:t>kích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+mj-lt"/>
                  </a:rPr>
                  <a:t>thước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+mj-lt"/>
                  </a:rPr>
                  <a:t>quần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+mj-lt"/>
                  </a:rPr>
                  <a:t>thể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+mj-lt"/>
                  </a:rPr>
                  <a:t>tối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  <a:latin typeface="+mj-lt"/>
                  </a:rPr>
                  <a:t>thiểu</a:t>
                </a:r>
                <a:r>
                  <a:rPr lang="en-US" dirty="0">
                    <a:solidFill>
                      <a:srgbClr val="FF0000"/>
                    </a:solidFill>
                    <a:latin typeface="+mj-lt"/>
                  </a:rPr>
                  <a:t> (minimal required population size)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và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accent1"/>
                    </a:solidFill>
                    <a:latin typeface="+mj-lt"/>
                  </a:rPr>
                  <a:t>số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accent1"/>
                    </a:solidFill>
                    <a:latin typeface="+mj-lt"/>
                  </a:rPr>
                  <a:t>lần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accent1"/>
                    </a:solidFill>
                    <a:latin typeface="+mj-lt"/>
                  </a:rPr>
                  <a:t>gọi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accent1"/>
                    </a:solidFill>
                    <a:latin typeface="+mj-lt"/>
                  </a:rPr>
                  <a:t>hàm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accent1"/>
                    </a:solidFill>
                    <a:latin typeface="+mj-lt"/>
                  </a:rPr>
                  <a:t>đánh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accent1"/>
                    </a:solidFill>
                    <a:latin typeface="+mj-lt"/>
                  </a:rPr>
                  <a:t>giá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của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kích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thước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quần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thể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này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tính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DD4BE1"/>
                    </a:solidFill>
                    <a:latin typeface="+mj-lt"/>
                  </a:rPr>
                  <a:t>trung</a:t>
                </a:r>
                <a:r>
                  <a:rPr lang="en-US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DD4BE1"/>
                    </a:solidFill>
                    <a:latin typeface="+mj-lt"/>
                  </a:rPr>
                  <a:t>bình</a:t>
                </a:r>
                <a:r>
                  <a:rPr lang="en-US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DD4BE1"/>
                    </a:solidFill>
                    <a:latin typeface="+mj-lt"/>
                  </a:rPr>
                  <a:t>trên</a:t>
                </a:r>
                <a:r>
                  <a:rPr lang="en-US" dirty="0">
                    <a:solidFill>
                      <a:srgbClr val="DD4BE1"/>
                    </a:solidFill>
                    <a:latin typeface="+mj-lt"/>
                  </a:rPr>
                  <a:t> 10 </a:t>
                </a:r>
                <a:r>
                  <a:rPr lang="en-US" dirty="0" err="1">
                    <a:solidFill>
                      <a:srgbClr val="DD4BE1"/>
                    </a:solidFill>
                    <a:latin typeface="+mj-lt"/>
                  </a:rPr>
                  <a:t>lần</a:t>
                </a:r>
                <a:r>
                  <a:rPr lang="en-US" dirty="0">
                    <a:solidFill>
                      <a:srgbClr val="DD4BE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rgbClr val="DD4BE1"/>
                    </a:solidFill>
                    <a:latin typeface="+mj-lt"/>
                  </a:rPr>
                  <a:t>chạy</a:t>
                </a: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74" name="Google Shape;374;p5">
                <a:extLst>
                  <a:ext uri="{FF2B5EF4-FFF2-40B4-BE49-F238E27FC236}">
                    <a16:creationId xmlns:a16="http://schemas.microsoft.com/office/drawing/2014/main" id="{326A59C3-4BB9-D074-0083-141F97727A6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8022" y="573294"/>
                <a:ext cx="11479178" cy="6284705"/>
              </a:xfrm>
              <a:prstGeom prst="rect">
                <a:avLst/>
              </a:prstGeom>
              <a:blipFill>
                <a:blip r:embed="rId3"/>
                <a:stretch>
                  <a:fillRect l="-956" t="-485" r="-7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6362ED92-9E8C-C56E-CF35-4286FC457E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D5842C2D-3A01-C1B1-4260-581B312DFF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646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6A2788A1-314D-7DE9-9EC7-65D86AD5A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4CF59237-F21B-1593-83A8-C94DD8BBC2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-81046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Bisection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890804F2-CF7E-4C3A-2781-BB3784D8B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22" y="573294"/>
            <a:ext cx="11479178" cy="628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Thực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hiện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Bisection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cho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mỗi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(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cấu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hình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)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thuật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toán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cho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mỗi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kích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thước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bài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toán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xác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định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: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Kích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thước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quần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tối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thiểu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(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cấu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hình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)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thuật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toán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tìm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ra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lời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giải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tối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ưu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Số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gọi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hàm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đánh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giá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mà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quần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của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(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cấu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hình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)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thuật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toán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tìm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ra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lời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giải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tối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ưu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41642871-E3B0-2663-865D-148A748E3B8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A632A46F-7C52-E6B7-46C0-79687B91E3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32</a:t>
            </a:fld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3E10A5F-7011-D20F-0AD0-67201B043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48" y="2065898"/>
            <a:ext cx="54959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30AB94D-C215-FD14-17E9-D2DED979D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973" y="2065898"/>
            <a:ext cx="57435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181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0719F1C4-0F77-0168-8393-400F8365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">
            <a:extLst>
              <a:ext uri="{FF2B5EF4-FFF2-40B4-BE49-F238E27FC236}">
                <a16:creationId xmlns:a16="http://schemas.microsoft.com/office/drawing/2014/main" id="{5777FCDF-2531-D4D0-3A4A-5BD40517E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146" y="-81046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Bisection</a:t>
            </a:r>
            <a:endParaRPr dirty="0"/>
          </a:p>
        </p:txBody>
      </p:sp>
      <p:sp>
        <p:nvSpPr>
          <p:cNvPr id="374" name="Google Shape;374;p5">
            <a:extLst>
              <a:ext uri="{FF2B5EF4-FFF2-40B4-BE49-F238E27FC236}">
                <a16:creationId xmlns:a16="http://schemas.microsoft.com/office/drawing/2014/main" id="{70C0220D-0878-506D-1C7E-2F9023A12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22" y="573294"/>
            <a:ext cx="11479178" cy="628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Ta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thực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hiện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j-lt"/>
              </a:rPr>
              <a:t>nhiều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j-lt"/>
              </a:rPr>
              <a:t>lần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 Bisection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và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báo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cáo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kết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quả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trung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bình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và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độ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lệch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chuẩn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: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Kích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thước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quần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tối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thiểu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trung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bình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để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(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cấu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hình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)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thuật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toán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tìm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ra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lời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giải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tối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ưu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Số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lần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gọi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hàm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đánh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giá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trung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DD4BE1"/>
                </a:solidFill>
                <a:latin typeface="+mj-lt"/>
              </a:rPr>
              <a:t>bình</a:t>
            </a:r>
            <a:r>
              <a:rPr lang="en-US" sz="2000" dirty="0">
                <a:solidFill>
                  <a:srgbClr val="DD4BE1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được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sử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dụng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375" name="Google Shape;375;p5">
            <a:extLst>
              <a:ext uri="{FF2B5EF4-FFF2-40B4-BE49-F238E27FC236}">
                <a16:creationId xmlns:a16="http://schemas.microsoft.com/office/drawing/2014/main" id="{F275D6EB-BF6F-F438-6D7F-CA0B8551174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VN"/>
              <a:t>Thực hiện bởi Trường Đại học Công nghệ Thông tin, ĐHQG-HCM</a:t>
            </a:r>
            <a:endParaRPr/>
          </a:p>
        </p:txBody>
      </p:sp>
      <p:sp>
        <p:nvSpPr>
          <p:cNvPr id="376" name="Google Shape;376;p5">
            <a:extLst>
              <a:ext uri="{FF2B5EF4-FFF2-40B4-BE49-F238E27FC236}">
                <a16:creationId xmlns:a16="http://schemas.microsoft.com/office/drawing/2014/main" id="{37CBC0C4-F4D7-23A4-82A2-59B072308F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VN"/>
              <a:t>33</a:t>
            </a:fld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F41C9E-478F-CDA4-A284-0E05413F1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68048" y="2256970"/>
            <a:ext cx="54959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DB3244-862F-C465-6EA9-5D6BD65BB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063973" y="2256970"/>
            <a:ext cx="57435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12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FF3300"/>
    </a:lt2>
    <a:accent1>
      <a:srgbClr val="0000FF"/>
    </a:accent1>
    <a:accent2>
      <a:srgbClr val="66FF33"/>
    </a:accent2>
    <a:accent3>
      <a:srgbClr val="FFFFFF"/>
    </a:accent3>
    <a:accent4>
      <a:srgbClr val="000000"/>
    </a:accent4>
    <a:accent5>
      <a:srgbClr val="AAAAFF"/>
    </a:accent5>
    <a:accent6>
      <a:srgbClr val="5CE72D"/>
    </a:accent6>
    <a:hlink>
      <a:srgbClr val="00FFFF"/>
    </a:hlink>
    <a:folHlink>
      <a:srgbClr val="9900CC"/>
    </a:folHlink>
  </a:clrScheme>
  <a:fontScheme name="Default Design">
    <a:majorFont>
      <a:latin typeface="Albertus Medium"/>
      <a:ea typeface=""/>
      <a:cs typeface=""/>
    </a:majorFont>
    <a:minorFont>
      <a:latin typeface="Albertu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FF3300"/>
    </a:lt2>
    <a:accent1>
      <a:srgbClr val="0000FF"/>
    </a:accent1>
    <a:accent2>
      <a:srgbClr val="66FF33"/>
    </a:accent2>
    <a:accent3>
      <a:srgbClr val="FFFFFF"/>
    </a:accent3>
    <a:accent4>
      <a:srgbClr val="000000"/>
    </a:accent4>
    <a:accent5>
      <a:srgbClr val="AAAAFF"/>
    </a:accent5>
    <a:accent6>
      <a:srgbClr val="5CE72D"/>
    </a:accent6>
    <a:hlink>
      <a:srgbClr val="00FFFF"/>
    </a:hlink>
    <a:folHlink>
      <a:srgbClr val="9900CC"/>
    </a:folHlink>
  </a:clrScheme>
  <a:fontScheme name="Default Design">
    <a:majorFont>
      <a:latin typeface="Albertus Medium"/>
      <a:ea typeface=""/>
      <a:cs typeface=""/>
    </a:majorFont>
    <a:minorFont>
      <a:latin typeface="Albertu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FF3300"/>
    </a:lt2>
    <a:accent1>
      <a:srgbClr val="0000FF"/>
    </a:accent1>
    <a:accent2>
      <a:srgbClr val="66FF33"/>
    </a:accent2>
    <a:accent3>
      <a:srgbClr val="FFFFFF"/>
    </a:accent3>
    <a:accent4>
      <a:srgbClr val="000000"/>
    </a:accent4>
    <a:accent5>
      <a:srgbClr val="AAAAFF"/>
    </a:accent5>
    <a:accent6>
      <a:srgbClr val="5CE72D"/>
    </a:accent6>
    <a:hlink>
      <a:srgbClr val="00FFFF"/>
    </a:hlink>
    <a:folHlink>
      <a:srgbClr val="9900CC"/>
    </a:folHlink>
  </a:clrScheme>
  <a:fontScheme name="Default Design">
    <a:majorFont>
      <a:latin typeface="Albertus Medium"/>
      <a:ea typeface=""/>
      <a:cs typeface=""/>
    </a:majorFont>
    <a:minorFont>
      <a:latin typeface="Albertu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3581</TotalTime>
  <Words>3477</Words>
  <Application>Microsoft Office PowerPoint</Application>
  <PresentationFormat>Widescreen</PresentationFormat>
  <Paragraphs>522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Albertus Medium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Thuật giải di truyền – Ôn tập</vt:lpstr>
      <vt:lpstr>Chọn lọc tỷ lệ (Proportional Selection)</vt:lpstr>
      <vt:lpstr>Chọn lọc tỷ lệ (Proportional Selection) – Ví dụ</vt:lpstr>
      <vt:lpstr>Chọn lọc tỷ lệ (Proportional Selection) – Ví dụ</vt:lpstr>
      <vt:lpstr>Chọn lọc tỷ lệ (Proportional Selection)</vt:lpstr>
      <vt:lpstr>Chọn lọc giao đấu (Tournament Selection)</vt:lpstr>
      <vt:lpstr>Chọn lọc giao đấu (Tournament Selection)</vt:lpstr>
      <vt:lpstr>Chọn lọc giao đấu (không thay thế) – Ví dụ</vt:lpstr>
      <vt:lpstr>Chọn lọc giao đấu (không thay thế) – Ví dụ</vt:lpstr>
      <vt:lpstr>Thuật giải di truyền – Chọn lọc giao đấu</vt:lpstr>
      <vt:lpstr>PowerPoint Presentation</vt:lpstr>
      <vt:lpstr>Thuật giải di truyền – Bản cài đặt POPOP</vt:lpstr>
      <vt:lpstr>Thuật giải di truyền – Bản cài đặt POPOP</vt:lpstr>
      <vt:lpstr>Thuật giải di truyền – Bản cài đặt POPOP</vt:lpstr>
      <vt:lpstr>Thuật giải di truyền – Bản cài đặt POPOP</vt:lpstr>
      <vt:lpstr>Thuật giải di truyền – Bản cài đặt POPOP</vt:lpstr>
      <vt:lpstr>PowerPoint Presentation</vt:lpstr>
      <vt:lpstr>Các hàm benchmark - OneMax</vt:lpstr>
      <vt:lpstr>Các hàm benchmark – Concatenated Trap-k</vt:lpstr>
      <vt:lpstr>Các hàm benchmark – Concatenated Trap-k</vt:lpstr>
      <vt:lpstr>Các hàm benchmark – LeadingOnes</vt:lpstr>
      <vt:lpstr>Đánh giá các thuật toán tiến hóa</vt:lpstr>
      <vt:lpstr>Đánh giá các thuật toán tiến hóa</vt:lpstr>
      <vt:lpstr>Đánh giá các thuật toán tiến hóa</vt:lpstr>
      <vt:lpstr>Đánh giá các thuật toán tiến hóa</vt:lpstr>
      <vt:lpstr>Thuật toán Bisection</vt:lpstr>
      <vt:lpstr>Thuật toán Bisection</vt:lpstr>
      <vt:lpstr>Thuật toán Bisection</vt:lpstr>
      <vt:lpstr>Thuật toán Bisection</vt:lpstr>
      <vt:lpstr>Thuật toán Bisection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Trần Hoàng Lộc</dc:creator>
  <cp:lastModifiedBy>Lương Ngọc Hoàng</cp:lastModifiedBy>
  <cp:revision>191</cp:revision>
  <dcterms:created xsi:type="dcterms:W3CDTF">2023-03-03T01:55:04Z</dcterms:created>
  <dcterms:modified xsi:type="dcterms:W3CDTF">2026-02-26T12:26:11Z</dcterms:modified>
</cp:coreProperties>
</file>